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Poppins Bold" charset="1" panose="00000800000000000000"/>
      <p:regular r:id="rId18"/>
    </p:embeddedFont>
    <p:embeddedFont>
      <p:font typeface="Open Sans" charset="1" panose="00000000000000000000"/>
      <p:regular r:id="rId19"/>
    </p:embeddedFont>
    <p:embeddedFont>
      <p:font typeface="Poppins" charset="1" panose="00000500000000000000"/>
      <p:regular r:id="rId20"/>
    </p:embeddedFont>
    <p:embeddedFont>
      <p:font typeface="Open Sans Bold" charset="1" panose="000000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jpe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jpe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27.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30.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9259" r="0" b="-9259"/>
              </a:stretch>
            </a:blipFill>
          </p:spPr>
        </p:sp>
      </p:grpSp>
      <p:sp>
        <p:nvSpPr>
          <p:cNvPr name="TextBox 4" id="4"/>
          <p:cNvSpPr txBox="true"/>
          <p:nvPr/>
        </p:nvSpPr>
        <p:spPr>
          <a:xfrm rot="0">
            <a:off x="2037836" y="3054334"/>
            <a:ext cx="14212329" cy="2411720"/>
          </a:xfrm>
          <a:prstGeom prst="rect">
            <a:avLst/>
          </a:prstGeom>
        </p:spPr>
        <p:txBody>
          <a:bodyPr anchor="t" rtlCol="false" tIns="0" lIns="0" bIns="0" rIns="0">
            <a:spAutoFit/>
          </a:bodyPr>
          <a:lstStyle/>
          <a:p>
            <a:pPr algn="ctr">
              <a:lnSpc>
                <a:spcPts val="8819"/>
              </a:lnSpc>
            </a:pPr>
            <a:r>
              <a:rPr lang="en-US" sz="6300" b="true">
                <a:solidFill>
                  <a:srgbClr val="FFFFFF"/>
                </a:solidFill>
                <a:latin typeface="Poppins Bold"/>
                <a:ea typeface="Poppins Bold"/>
                <a:cs typeface="Poppins Bold"/>
                <a:sym typeface="Poppins Bold"/>
              </a:rPr>
              <a:t>Smart Campus Early-Warning &amp; Decision Support System</a:t>
            </a:r>
          </a:p>
        </p:txBody>
      </p:sp>
      <p:sp>
        <p:nvSpPr>
          <p:cNvPr name="TextBox 5" id="5"/>
          <p:cNvSpPr txBox="true"/>
          <p:nvPr/>
        </p:nvSpPr>
        <p:spPr>
          <a:xfrm rot="0">
            <a:off x="4240216" y="5657964"/>
            <a:ext cx="9807578" cy="410842"/>
          </a:xfrm>
          <a:prstGeom prst="rect">
            <a:avLst/>
          </a:prstGeom>
        </p:spPr>
        <p:txBody>
          <a:bodyPr anchor="t" rtlCol="false" tIns="0" lIns="0" bIns="0" rIns="0">
            <a:spAutoFit/>
          </a:bodyPr>
          <a:lstStyle/>
          <a:p>
            <a:pPr algn="ctr">
              <a:lnSpc>
                <a:spcPts val="3079"/>
              </a:lnSpc>
            </a:pPr>
            <a:r>
              <a:rPr lang="en-US" sz="2199">
                <a:solidFill>
                  <a:srgbClr val="FFFFFF"/>
                </a:solidFill>
                <a:latin typeface="Open Sans"/>
                <a:ea typeface="Open Sans"/>
                <a:cs typeface="Open Sans"/>
                <a:sym typeface="Open Sans"/>
              </a:rPr>
              <a:t>Team Members: Kavyalakshmi | Baby Jyostna | Charan | Tharun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101623" y="0"/>
            <a:ext cx="3086100" cy="10287000"/>
            <a:chOff x="0" y="0"/>
            <a:chExt cx="812800" cy="2709333"/>
          </a:xfrm>
        </p:grpSpPr>
        <p:sp>
          <p:nvSpPr>
            <p:cNvPr name="Freeform 3" id="3"/>
            <p:cNvSpPr/>
            <p:nvPr/>
          </p:nvSpPr>
          <p:spPr>
            <a:xfrm flipH="false" flipV="false" rot="0">
              <a:off x="0" y="0"/>
              <a:ext cx="812800" cy="2709333"/>
            </a:xfrm>
            <a:custGeom>
              <a:avLst/>
              <a:gdLst/>
              <a:ahLst/>
              <a:cxnLst/>
              <a:rect r="r" b="b" t="t" l="l"/>
              <a:pathLst>
                <a:path h="2709333" w="812800">
                  <a:moveTo>
                    <a:pt x="0" y="0"/>
                  </a:moveTo>
                  <a:lnTo>
                    <a:pt x="812800" y="0"/>
                  </a:lnTo>
                  <a:lnTo>
                    <a:pt x="812800" y="2709333"/>
                  </a:lnTo>
                  <a:lnTo>
                    <a:pt x="0" y="2709333"/>
                  </a:lnTo>
                  <a:close/>
                </a:path>
              </a:pathLst>
            </a:custGeom>
            <a:solidFill>
              <a:srgbClr val="005AFF"/>
            </a:solidFill>
          </p:spPr>
        </p:sp>
        <p:sp>
          <p:nvSpPr>
            <p:cNvPr name="TextBox 4" id="4"/>
            <p:cNvSpPr txBox="true"/>
            <p:nvPr/>
          </p:nvSpPr>
          <p:spPr>
            <a:xfrm>
              <a:off x="0" y="-47625"/>
              <a:ext cx="812800" cy="2756958"/>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10125275" y="1028700"/>
            <a:ext cx="7134025" cy="8229600"/>
            <a:chOff x="0" y="0"/>
            <a:chExt cx="1105247" cy="1274980"/>
          </a:xfrm>
        </p:grpSpPr>
        <p:sp>
          <p:nvSpPr>
            <p:cNvPr name="Freeform 6" id="6"/>
            <p:cNvSpPr/>
            <p:nvPr/>
          </p:nvSpPr>
          <p:spPr>
            <a:xfrm flipH="false" flipV="false" rot="0">
              <a:off x="0" y="0"/>
              <a:ext cx="1105247" cy="1274980"/>
            </a:xfrm>
            <a:custGeom>
              <a:avLst/>
              <a:gdLst/>
              <a:ahLst/>
              <a:cxnLst/>
              <a:rect r="r" b="b" t="t" l="l"/>
              <a:pathLst>
                <a:path h="1274980" w="1105247">
                  <a:moveTo>
                    <a:pt x="0" y="0"/>
                  </a:moveTo>
                  <a:lnTo>
                    <a:pt x="1105247" y="0"/>
                  </a:lnTo>
                  <a:lnTo>
                    <a:pt x="1105247" y="1274980"/>
                  </a:lnTo>
                  <a:lnTo>
                    <a:pt x="0" y="1274980"/>
                  </a:lnTo>
                  <a:close/>
                </a:path>
              </a:pathLst>
            </a:custGeom>
            <a:blipFill>
              <a:blip r:embed="rId2"/>
              <a:stretch>
                <a:fillRect l="-26998" t="0" r="-26998" b="0"/>
              </a:stretch>
            </a:blipFill>
          </p:spPr>
        </p:sp>
      </p:grpSp>
      <p:sp>
        <p:nvSpPr>
          <p:cNvPr name="TextBox 7" id="7"/>
          <p:cNvSpPr txBox="true"/>
          <p:nvPr/>
        </p:nvSpPr>
        <p:spPr>
          <a:xfrm rot="0">
            <a:off x="1316702" y="396563"/>
            <a:ext cx="7658560" cy="1092825"/>
          </a:xfrm>
          <a:prstGeom prst="rect">
            <a:avLst/>
          </a:prstGeom>
        </p:spPr>
        <p:txBody>
          <a:bodyPr anchor="t" rtlCol="false" tIns="0" lIns="0" bIns="0" rIns="0">
            <a:spAutoFit/>
          </a:bodyPr>
          <a:lstStyle/>
          <a:p>
            <a:pPr algn="l">
              <a:lnSpc>
                <a:spcPts val="8540"/>
              </a:lnSpc>
            </a:pPr>
            <a:r>
              <a:rPr lang="en-US" sz="6100">
                <a:solidFill>
                  <a:srgbClr val="434032"/>
                </a:solidFill>
                <a:latin typeface="Poppins"/>
                <a:ea typeface="Poppins"/>
                <a:cs typeface="Poppins"/>
                <a:sym typeface="Poppins"/>
              </a:rPr>
              <a:t>Pr</a:t>
            </a:r>
            <a:r>
              <a:rPr lang="en-US" sz="6100">
                <a:solidFill>
                  <a:srgbClr val="434032"/>
                </a:solidFill>
                <a:latin typeface="Poppins"/>
                <a:ea typeface="Poppins"/>
                <a:cs typeface="Poppins"/>
                <a:sym typeface="Poppins"/>
              </a:rPr>
              <a:t>oblem Statement</a:t>
            </a:r>
          </a:p>
        </p:txBody>
      </p:sp>
      <p:sp>
        <p:nvSpPr>
          <p:cNvPr name="TextBox 8" id="8"/>
          <p:cNvSpPr txBox="true"/>
          <p:nvPr/>
        </p:nvSpPr>
        <p:spPr>
          <a:xfrm rot="0">
            <a:off x="549920" y="2774778"/>
            <a:ext cx="9192125" cy="5169014"/>
          </a:xfrm>
          <a:prstGeom prst="rect">
            <a:avLst/>
          </a:prstGeom>
        </p:spPr>
        <p:txBody>
          <a:bodyPr anchor="t" rtlCol="false" tIns="0" lIns="0" bIns="0" rIns="0">
            <a:spAutoFit/>
          </a:bodyPr>
          <a:lstStyle/>
          <a:p>
            <a:pPr algn="l">
              <a:lnSpc>
                <a:spcPts val="4120"/>
              </a:lnSpc>
            </a:pPr>
            <a:r>
              <a:rPr lang="en-US" sz="2943">
                <a:solidFill>
                  <a:srgbClr val="434032"/>
                </a:solidFill>
                <a:latin typeface="Open Sans"/>
                <a:ea typeface="Open Sans"/>
                <a:cs typeface="Open Sans"/>
                <a:sym typeface="Open Sans"/>
              </a:rPr>
              <a:t>What is th</a:t>
            </a:r>
            <a:r>
              <a:rPr lang="en-US" sz="2943">
                <a:solidFill>
                  <a:srgbClr val="434032"/>
                </a:solidFill>
                <a:latin typeface="Open Sans"/>
                <a:ea typeface="Open Sans"/>
                <a:cs typeface="Open Sans"/>
                <a:sym typeface="Open Sans"/>
              </a:rPr>
              <a:t>e Problem?</a:t>
            </a:r>
          </a:p>
          <a:p>
            <a:pPr algn="l" marL="635489" indent="-317745" lvl="1">
              <a:lnSpc>
                <a:spcPts val="4120"/>
              </a:lnSpc>
              <a:buFont typeface="Arial"/>
              <a:buChar char="•"/>
            </a:pPr>
            <a:r>
              <a:rPr lang="en-US" sz="2943">
                <a:solidFill>
                  <a:srgbClr val="434032"/>
                </a:solidFill>
                <a:latin typeface="Open Sans"/>
                <a:ea typeface="Open Sans"/>
                <a:cs typeface="Open Sans"/>
                <a:sym typeface="Open Sans"/>
              </a:rPr>
              <a:t>Campus conditions change continuously.</a:t>
            </a:r>
          </a:p>
          <a:p>
            <a:pPr algn="l" marL="635489" indent="-317745" lvl="1">
              <a:lnSpc>
                <a:spcPts val="4120"/>
              </a:lnSpc>
              <a:buFont typeface="Arial"/>
              <a:buChar char="•"/>
            </a:pPr>
            <a:r>
              <a:rPr lang="en-US" sz="2943">
                <a:solidFill>
                  <a:srgbClr val="434032"/>
                </a:solidFill>
                <a:latin typeface="Open Sans"/>
                <a:ea typeface="Open Sans"/>
                <a:cs typeface="Open Sans"/>
                <a:sym typeface="Open Sans"/>
              </a:rPr>
              <a:t>Problems may not be identified.</a:t>
            </a:r>
          </a:p>
          <a:p>
            <a:pPr algn="l" marL="635489" indent="-317745" lvl="1">
              <a:lnSpc>
                <a:spcPts val="4120"/>
              </a:lnSpc>
              <a:buFont typeface="Arial"/>
              <a:buChar char="•"/>
            </a:pPr>
            <a:r>
              <a:rPr lang="en-US" sz="2943">
                <a:solidFill>
                  <a:srgbClr val="434032"/>
                </a:solidFill>
                <a:latin typeface="Open Sans"/>
                <a:ea typeface="Open Sans"/>
                <a:cs typeface="Open Sans"/>
                <a:sym typeface="Open Sans"/>
              </a:rPr>
              <a:t>Manual monitoring of multiple conditions is difficult.</a:t>
            </a:r>
          </a:p>
          <a:p>
            <a:pPr algn="l" marL="635489" indent="-317745" lvl="1">
              <a:lnSpc>
                <a:spcPts val="4120"/>
              </a:lnSpc>
              <a:buFont typeface="Arial"/>
              <a:buChar char="•"/>
            </a:pPr>
            <a:r>
              <a:rPr lang="en-US" sz="2943">
                <a:solidFill>
                  <a:srgbClr val="434032"/>
                </a:solidFill>
                <a:latin typeface="Open Sans"/>
                <a:ea typeface="Open Sans"/>
                <a:cs typeface="Open Sans"/>
                <a:sym typeface="Open Sans"/>
              </a:rPr>
              <a:t>Student, campus, and environmental data are often considered separately.</a:t>
            </a:r>
          </a:p>
          <a:p>
            <a:pPr algn="l" marL="635489" indent="-317745" lvl="1">
              <a:lnSpc>
                <a:spcPts val="4120"/>
              </a:lnSpc>
              <a:buFont typeface="Arial"/>
              <a:buChar char="•"/>
            </a:pPr>
            <a:r>
              <a:rPr lang="en-US" sz="2943">
                <a:solidFill>
                  <a:srgbClr val="434032"/>
                </a:solidFill>
                <a:latin typeface="Open Sans"/>
                <a:ea typeface="Open Sans"/>
                <a:cs typeface="Open Sans"/>
                <a:sym typeface="Open Sans"/>
              </a:rPr>
              <a:t>Management needs quick and data-driven decisions.</a:t>
            </a:r>
          </a:p>
          <a:p>
            <a:pPr algn="l">
              <a:lnSpc>
                <a:spcPts val="4120"/>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312663" y="5161302"/>
            <a:ext cx="3086100" cy="5125698"/>
          </a:xfrm>
          <a:custGeom>
            <a:avLst/>
            <a:gdLst/>
            <a:ahLst/>
            <a:cxnLst/>
            <a:rect r="r" b="b" t="t" l="l"/>
            <a:pathLst>
              <a:path h="5125698" w="3086100">
                <a:moveTo>
                  <a:pt x="0" y="0"/>
                </a:moveTo>
                <a:lnTo>
                  <a:pt x="3086100" y="0"/>
                </a:lnTo>
                <a:lnTo>
                  <a:pt x="3086100" y="5125698"/>
                </a:lnTo>
                <a:lnTo>
                  <a:pt x="0" y="51256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452125" y="1385183"/>
            <a:ext cx="6807175" cy="6807175"/>
            <a:chOff x="0" y="0"/>
            <a:chExt cx="9076233" cy="9076233"/>
          </a:xfrm>
        </p:grpSpPr>
        <p:sp>
          <p:nvSpPr>
            <p:cNvPr name="Freeform 4" id="4"/>
            <p:cNvSpPr/>
            <p:nvPr/>
          </p:nvSpPr>
          <p:spPr>
            <a:xfrm flipH="false" flipV="false" rot="0">
              <a:off x="0" y="0"/>
              <a:ext cx="9076182" cy="9076182"/>
            </a:xfrm>
            <a:custGeom>
              <a:avLst/>
              <a:gdLst/>
              <a:ahLst/>
              <a:cxnLst/>
              <a:rect r="r" b="b" t="t" l="l"/>
              <a:pathLst>
                <a:path h="9076182" w="9076182">
                  <a:moveTo>
                    <a:pt x="4538091" y="0"/>
                  </a:moveTo>
                  <a:cubicBezTo>
                    <a:pt x="2031746" y="0"/>
                    <a:pt x="0" y="2031746"/>
                    <a:pt x="0" y="4538091"/>
                  </a:cubicBezTo>
                  <a:cubicBezTo>
                    <a:pt x="0" y="7044436"/>
                    <a:pt x="2031746" y="9076182"/>
                    <a:pt x="4538091" y="9076182"/>
                  </a:cubicBezTo>
                  <a:cubicBezTo>
                    <a:pt x="7044436" y="9076182"/>
                    <a:pt x="9076182" y="7044436"/>
                    <a:pt x="9076182" y="4538091"/>
                  </a:cubicBezTo>
                  <a:cubicBezTo>
                    <a:pt x="9076182" y="2031746"/>
                    <a:pt x="7044436" y="0"/>
                    <a:pt x="4538091" y="0"/>
                  </a:cubicBezTo>
                  <a:close/>
                </a:path>
              </a:pathLst>
            </a:custGeom>
            <a:blipFill>
              <a:blip r:embed="rId4"/>
              <a:stretch>
                <a:fillRect l="-25000" t="0" r="-25000" b="0"/>
              </a:stretch>
            </a:blipFill>
          </p:spPr>
        </p:sp>
      </p:grpSp>
      <p:sp>
        <p:nvSpPr>
          <p:cNvPr name="TextBox 5" id="5"/>
          <p:cNvSpPr txBox="true"/>
          <p:nvPr/>
        </p:nvSpPr>
        <p:spPr>
          <a:xfrm rot="0">
            <a:off x="3559245" y="590550"/>
            <a:ext cx="9289704" cy="1581140"/>
          </a:xfrm>
          <a:prstGeom prst="rect">
            <a:avLst/>
          </a:prstGeom>
        </p:spPr>
        <p:txBody>
          <a:bodyPr anchor="t" rtlCol="false" tIns="0" lIns="0" bIns="0" rIns="0">
            <a:spAutoFit/>
          </a:bodyPr>
          <a:lstStyle/>
          <a:p>
            <a:pPr algn="l">
              <a:lnSpc>
                <a:spcPts val="10500"/>
              </a:lnSpc>
            </a:pPr>
            <a:r>
              <a:rPr lang="en-US" sz="7500">
                <a:solidFill>
                  <a:srgbClr val="434032"/>
                </a:solidFill>
                <a:latin typeface="Poppins"/>
                <a:ea typeface="Poppins"/>
                <a:cs typeface="Poppins"/>
                <a:sym typeface="Poppins"/>
              </a:rPr>
              <a:t>Objective</a:t>
            </a:r>
          </a:p>
        </p:txBody>
      </p:sp>
      <p:sp>
        <p:nvSpPr>
          <p:cNvPr name="TextBox 6" id="6"/>
          <p:cNvSpPr txBox="true"/>
          <p:nvPr/>
        </p:nvSpPr>
        <p:spPr>
          <a:xfrm rot="0">
            <a:off x="407481" y="3667398"/>
            <a:ext cx="9907743" cy="4906404"/>
          </a:xfrm>
          <a:prstGeom prst="rect">
            <a:avLst/>
          </a:prstGeom>
        </p:spPr>
        <p:txBody>
          <a:bodyPr anchor="t" rtlCol="false" tIns="0" lIns="0" bIns="0" rIns="0">
            <a:spAutoFit/>
          </a:bodyPr>
          <a:lstStyle/>
          <a:p>
            <a:pPr algn="just">
              <a:lnSpc>
                <a:spcPts val="4411"/>
              </a:lnSpc>
            </a:pPr>
            <a:r>
              <a:rPr lang="en-US" sz="3675">
                <a:solidFill>
                  <a:srgbClr val="434032"/>
                </a:solidFill>
                <a:latin typeface="Open Sans"/>
                <a:ea typeface="Open Sans"/>
                <a:cs typeface="Open Sans"/>
                <a:sym typeface="Open Sans"/>
              </a:rPr>
              <a:t>The main objective of this project is to monitor different campus conditions and identifies potential risks related to students, campus facilities, and the environment. The system uses campus data and Machine Learning to predict the risk level and provide an early warning along with a recommended preventive action.</a:t>
            </a:r>
          </a:p>
          <a:p>
            <a:pPr algn="just">
              <a:lnSpc>
                <a:spcPts val="3344"/>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80823"/>
            <a:ext cx="3086100" cy="10467823"/>
          </a:xfrm>
          <a:custGeom>
            <a:avLst/>
            <a:gdLst/>
            <a:ahLst/>
            <a:cxnLst/>
            <a:rect r="r" b="b" t="t" l="l"/>
            <a:pathLst>
              <a:path h="10467823" w="3086100">
                <a:moveTo>
                  <a:pt x="0" y="0"/>
                </a:moveTo>
                <a:lnTo>
                  <a:pt x="3086100" y="0"/>
                </a:lnTo>
                <a:lnTo>
                  <a:pt x="3086100" y="10467823"/>
                </a:lnTo>
                <a:lnTo>
                  <a:pt x="0" y="10467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1028700"/>
            <a:ext cx="7545010" cy="8229600"/>
            <a:chOff x="0" y="0"/>
            <a:chExt cx="10060013" cy="10972800"/>
          </a:xfrm>
        </p:grpSpPr>
        <p:sp>
          <p:nvSpPr>
            <p:cNvPr name="Freeform 4" id="4"/>
            <p:cNvSpPr/>
            <p:nvPr/>
          </p:nvSpPr>
          <p:spPr>
            <a:xfrm flipH="false" flipV="false" rot="0">
              <a:off x="0" y="0"/>
              <a:ext cx="10060051" cy="10972800"/>
            </a:xfrm>
            <a:custGeom>
              <a:avLst/>
              <a:gdLst/>
              <a:ahLst/>
              <a:cxnLst/>
              <a:rect r="r" b="b" t="t" l="l"/>
              <a:pathLst>
                <a:path h="10972800" w="10060051">
                  <a:moveTo>
                    <a:pt x="0" y="0"/>
                  </a:moveTo>
                  <a:lnTo>
                    <a:pt x="10060051" y="0"/>
                  </a:lnTo>
                  <a:lnTo>
                    <a:pt x="10060051" y="10972800"/>
                  </a:lnTo>
                  <a:lnTo>
                    <a:pt x="0" y="10972800"/>
                  </a:lnTo>
                  <a:close/>
                </a:path>
              </a:pathLst>
            </a:custGeom>
            <a:blipFill>
              <a:blip r:embed="rId4"/>
              <a:stretch>
                <a:fillRect l="-4536" t="0" r="-4536" b="0"/>
              </a:stretch>
            </a:blipFill>
          </p:spPr>
        </p:sp>
      </p:grpSp>
      <p:sp>
        <p:nvSpPr>
          <p:cNvPr name="TextBox 5" id="5"/>
          <p:cNvSpPr txBox="true"/>
          <p:nvPr/>
        </p:nvSpPr>
        <p:spPr>
          <a:xfrm rot="0">
            <a:off x="10092928" y="-42653"/>
            <a:ext cx="6309989" cy="1518275"/>
          </a:xfrm>
          <a:prstGeom prst="rect">
            <a:avLst/>
          </a:prstGeom>
        </p:spPr>
        <p:txBody>
          <a:bodyPr anchor="t" rtlCol="false" tIns="0" lIns="0" bIns="0" rIns="0">
            <a:spAutoFit/>
          </a:bodyPr>
          <a:lstStyle/>
          <a:p>
            <a:pPr algn="l">
              <a:lnSpc>
                <a:spcPts val="8819"/>
              </a:lnSpc>
            </a:pPr>
            <a:r>
              <a:rPr lang="en-US" sz="6300">
                <a:solidFill>
                  <a:srgbClr val="434032"/>
                </a:solidFill>
                <a:latin typeface="Poppins"/>
                <a:ea typeface="Poppins"/>
                <a:cs typeface="Poppins"/>
                <a:sym typeface="Poppins"/>
              </a:rPr>
              <a:t> Main Features:</a:t>
            </a:r>
          </a:p>
          <a:p>
            <a:pPr algn="l">
              <a:lnSpc>
                <a:spcPts val="3150"/>
              </a:lnSpc>
            </a:pPr>
          </a:p>
        </p:txBody>
      </p:sp>
      <p:sp>
        <p:nvSpPr>
          <p:cNvPr name="TextBox 6" id="6"/>
          <p:cNvSpPr txBox="true"/>
          <p:nvPr/>
        </p:nvSpPr>
        <p:spPr>
          <a:xfrm rot="0">
            <a:off x="9144000" y="1266073"/>
            <a:ext cx="8793099" cy="8779583"/>
          </a:xfrm>
          <a:prstGeom prst="rect">
            <a:avLst/>
          </a:prstGeom>
        </p:spPr>
        <p:txBody>
          <a:bodyPr anchor="t" rtlCol="false" tIns="0" lIns="0" bIns="0" rIns="0">
            <a:spAutoFit/>
          </a:bodyPr>
          <a:lstStyle/>
          <a:p>
            <a:pPr algn="l" marL="653901" indent="-217967" lvl="2">
              <a:lnSpc>
                <a:spcPts val="4576"/>
              </a:lnSpc>
              <a:buFont typeface="Arial"/>
              <a:buChar char="⚬"/>
            </a:pPr>
            <a:r>
              <a:rPr lang="en-US" b="true" sz="2859">
                <a:solidFill>
                  <a:srgbClr val="434032"/>
                </a:solidFill>
                <a:latin typeface="Open Sans Bold"/>
                <a:ea typeface="Open Sans Bold"/>
                <a:cs typeface="Open Sans Bold"/>
                <a:sym typeface="Open Sans Bold"/>
              </a:rPr>
              <a:t>Risk Prediction</a:t>
            </a:r>
            <a:r>
              <a:rPr lang="en-US" sz="2859">
                <a:solidFill>
                  <a:srgbClr val="434032"/>
                </a:solidFill>
                <a:latin typeface="Open Sans"/>
                <a:ea typeface="Open Sans"/>
                <a:cs typeface="Open Sans"/>
                <a:sym typeface="Open Sans"/>
              </a:rPr>
              <a:t> – Analyze the input data using a Machine Learning model.</a:t>
            </a:r>
          </a:p>
          <a:p>
            <a:pPr algn="l" marL="653901" indent="-217967" lvl="2">
              <a:lnSpc>
                <a:spcPts val="4576"/>
              </a:lnSpc>
              <a:buFont typeface="Arial"/>
              <a:buChar char="⚬"/>
            </a:pPr>
            <a:r>
              <a:rPr lang="en-US" b="true" sz="2859">
                <a:solidFill>
                  <a:srgbClr val="434032"/>
                </a:solidFill>
                <a:latin typeface="Open Sans Bold"/>
                <a:ea typeface="Open Sans Bold"/>
                <a:cs typeface="Open Sans Bold"/>
                <a:sym typeface="Open Sans Bold"/>
              </a:rPr>
              <a:t>Risk Classification</a:t>
            </a:r>
            <a:r>
              <a:rPr lang="en-US" sz="2859">
                <a:solidFill>
                  <a:srgbClr val="434032"/>
                </a:solidFill>
                <a:latin typeface="Open Sans"/>
                <a:ea typeface="Open Sans"/>
                <a:cs typeface="Open Sans"/>
                <a:sym typeface="Open Sans"/>
              </a:rPr>
              <a:t> – Classify the situation into:</a:t>
            </a:r>
          </a:p>
          <a:p>
            <a:pPr algn="l" marL="653901" indent="-217967" lvl="2">
              <a:lnSpc>
                <a:spcPts val="4576"/>
              </a:lnSpc>
            </a:pPr>
            <a:r>
              <a:rPr lang="en-US" sz="2859">
                <a:solidFill>
                  <a:srgbClr val="434032"/>
                </a:solidFill>
                <a:latin typeface="Open Sans"/>
                <a:ea typeface="Open Sans"/>
                <a:cs typeface="Open Sans"/>
                <a:sym typeface="Open Sans"/>
              </a:rPr>
              <a:t>            1.Low Risk</a:t>
            </a:r>
          </a:p>
          <a:p>
            <a:pPr algn="l" marL="653901" indent="-217967" lvl="2">
              <a:lnSpc>
                <a:spcPts val="4576"/>
              </a:lnSpc>
            </a:pPr>
            <a:r>
              <a:rPr lang="en-US" sz="2859">
                <a:solidFill>
                  <a:srgbClr val="434032"/>
                </a:solidFill>
                <a:latin typeface="Open Sans"/>
                <a:ea typeface="Open Sans"/>
                <a:cs typeface="Open Sans"/>
                <a:sym typeface="Open Sans"/>
              </a:rPr>
              <a:t>            2.Medium Risk</a:t>
            </a:r>
          </a:p>
          <a:p>
            <a:pPr algn="l" marL="653901" indent="-217967" lvl="2">
              <a:lnSpc>
                <a:spcPts val="4576"/>
              </a:lnSpc>
            </a:pPr>
            <a:r>
              <a:rPr lang="en-US" sz="2859">
                <a:solidFill>
                  <a:srgbClr val="434032"/>
                </a:solidFill>
                <a:latin typeface="Open Sans"/>
                <a:ea typeface="Open Sans"/>
                <a:cs typeface="Open Sans"/>
                <a:sym typeface="Open Sans"/>
              </a:rPr>
              <a:t>            3.High Risk</a:t>
            </a:r>
          </a:p>
          <a:p>
            <a:pPr algn="l" marL="653901" indent="-217967" lvl="2">
              <a:lnSpc>
                <a:spcPts val="4576"/>
              </a:lnSpc>
              <a:buFont typeface="Arial"/>
              <a:buChar char="⚬"/>
            </a:pPr>
            <a:r>
              <a:rPr lang="en-US" b="true" sz="2859">
                <a:solidFill>
                  <a:srgbClr val="434032"/>
                </a:solidFill>
                <a:latin typeface="Open Sans Bold"/>
                <a:ea typeface="Open Sans Bold"/>
                <a:cs typeface="Open Sans Bold"/>
                <a:sym typeface="Open Sans Bold"/>
              </a:rPr>
              <a:t>Early Warning</a:t>
            </a:r>
            <a:r>
              <a:rPr lang="en-US" sz="2859">
                <a:solidFill>
                  <a:srgbClr val="434032"/>
                </a:solidFill>
                <a:latin typeface="Open Sans"/>
                <a:ea typeface="Open Sans"/>
                <a:cs typeface="Open Sans"/>
                <a:sym typeface="Open Sans"/>
              </a:rPr>
              <a:t> – Generate a warning when a potential problem is detected.</a:t>
            </a:r>
          </a:p>
          <a:p>
            <a:pPr algn="l" marL="653901" indent="-217967" lvl="2">
              <a:lnSpc>
                <a:spcPts val="4576"/>
              </a:lnSpc>
              <a:buFont typeface="Arial"/>
              <a:buChar char="⚬"/>
            </a:pPr>
            <a:r>
              <a:rPr lang="en-US" b="true" sz="2859">
                <a:solidFill>
                  <a:srgbClr val="434032"/>
                </a:solidFill>
                <a:latin typeface="Open Sans Bold"/>
                <a:ea typeface="Open Sans Bold"/>
                <a:cs typeface="Open Sans Bold"/>
                <a:sym typeface="Open Sans Bold"/>
              </a:rPr>
              <a:t>Recommended Action</a:t>
            </a:r>
            <a:r>
              <a:rPr lang="en-US" sz="2859">
                <a:solidFill>
                  <a:srgbClr val="434032"/>
                </a:solidFill>
                <a:latin typeface="Open Sans"/>
                <a:ea typeface="Open Sans"/>
                <a:cs typeface="Open Sans"/>
                <a:sym typeface="Open Sans"/>
              </a:rPr>
              <a:t> – Suggest preventive action for the detected risk.</a:t>
            </a:r>
          </a:p>
          <a:p>
            <a:pPr algn="l" marL="653901" indent="-217967" lvl="2">
              <a:lnSpc>
                <a:spcPts val="4576"/>
              </a:lnSpc>
              <a:buFont typeface="Arial"/>
              <a:buChar char="⚬"/>
            </a:pPr>
            <a:r>
              <a:rPr lang="en-US" b="true" sz="2859">
                <a:solidFill>
                  <a:srgbClr val="434032"/>
                </a:solidFill>
                <a:latin typeface="Open Sans Bold"/>
                <a:ea typeface="Open Sans Bold"/>
                <a:cs typeface="Open Sans Bold"/>
                <a:sym typeface="Open Sans Bold"/>
              </a:rPr>
              <a:t>Simple Dashboard</a:t>
            </a:r>
            <a:r>
              <a:rPr lang="en-US" sz="2859">
                <a:solidFill>
                  <a:srgbClr val="434032"/>
                </a:solidFill>
                <a:latin typeface="Open Sans"/>
                <a:ea typeface="Open Sans"/>
                <a:cs typeface="Open Sans"/>
                <a:sym typeface="Open Sans"/>
              </a:rPr>
              <a:t> – Display input values, risk level, warning, and recommendation clearly.</a:t>
            </a:r>
          </a:p>
          <a:p>
            <a:pPr algn="l" marL="653901" indent="-217967" lvl="2">
              <a:lnSpc>
                <a:spcPts val="4576"/>
              </a:lnSpc>
              <a:buFont typeface="Arial"/>
              <a:buChar char="⚬"/>
            </a:pPr>
            <a:r>
              <a:rPr lang="en-US" b="true" sz="2859">
                <a:solidFill>
                  <a:srgbClr val="434032"/>
                </a:solidFill>
                <a:latin typeface="Open Sans Bold"/>
                <a:ea typeface="Open Sans Bold"/>
                <a:cs typeface="Open Sans Bold"/>
                <a:sym typeface="Open Sans Bold"/>
              </a:rPr>
              <a:t>Real-Time Analysis</a:t>
            </a:r>
            <a:r>
              <a:rPr lang="en-US" sz="2859">
                <a:solidFill>
                  <a:srgbClr val="434032"/>
                </a:solidFill>
                <a:latin typeface="Open Sans"/>
                <a:ea typeface="Open Sans"/>
                <a:cs typeface="Open Sans"/>
                <a:sym typeface="Open Sans"/>
              </a:rPr>
              <a:t> – Analyze the values entered by the user and immediately show the prediction.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80823"/>
            <a:ext cx="5258305" cy="3164481"/>
          </a:xfrm>
          <a:custGeom>
            <a:avLst/>
            <a:gdLst/>
            <a:ahLst/>
            <a:cxnLst/>
            <a:rect r="r" b="b" t="t" l="l"/>
            <a:pathLst>
              <a:path h="3164481" w="5258305">
                <a:moveTo>
                  <a:pt x="0" y="0"/>
                </a:moveTo>
                <a:lnTo>
                  <a:pt x="5258305" y="0"/>
                </a:lnTo>
                <a:lnTo>
                  <a:pt x="5258305" y="3164482"/>
                </a:lnTo>
                <a:lnTo>
                  <a:pt x="0" y="31644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1028700"/>
            <a:ext cx="7136949" cy="8229600"/>
            <a:chOff x="0" y="0"/>
            <a:chExt cx="9515932" cy="10972800"/>
          </a:xfrm>
        </p:grpSpPr>
        <p:sp>
          <p:nvSpPr>
            <p:cNvPr name="Freeform 4" id="4"/>
            <p:cNvSpPr/>
            <p:nvPr/>
          </p:nvSpPr>
          <p:spPr>
            <a:xfrm flipH="false" flipV="false" rot="0">
              <a:off x="0" y="0"/>
              <a:ext cx="9515983" cy="10972800"/>
            </a:xfrm>
            <a:custGeom>
              <a:avLst/>
              <a:gdLst/>
              <a:ahLst/>
              <a:cxnLst/>
              <a:rect r="r" b="b" t="t" l="l"/>
              <a:pathLst>
                <a:path h="10972800" w="9515983">
                  <a:moveTo>
                    <a:pt x="0" y="0"/>
                  </a:moveTo>
                  <a:lnTo>
                    <a:pt x="9515983" y="0"/>
                  </a:lnTo>
                  <a:lnTo>
                    <a:pt x="9515983" y="10972800"/>
                  </a:lnTo>
                  <a:lnTo>
                    <a:pt x="0" y="10972800"/>
                  </a:lnTo>
                  <a:close/>
                </a:path>
              </a:pathLst>
            </a:custGeom>
            <a:blipFill>
              <a:blip r:embed="rId4"/>
              <a:stretch>
                <a:fillRect l="-36482" t="0" r="-36481" b="0"/>
              </a:stretch>
            </a:blipFill>
          </p:spPr>
        </p:sp>
      </p:grpSp>
      <p:sp>
        <p:nvSpPr>
          <p:cNvPr name="Freeform 5" id="5"/>
          <p:cNvSpPr/>
          <p:nvPr/>
        </p:nvSpPr>
        <p:spPr>
          <a:xfrm flipH="false" flipV="false" rot="0">
            <a:off x="9774540" y="2449294"/>
            <a:ext cx="6723684" cy="4884512"/>
          </a:xfrm>
          <a:custGeom>
            <a:avLst/>
            <a:gdLst/>
            <a:ahLst/>
            <a:cxnLst/>
            <a:rect r="r" b="b" t="t" l="l"/>
            <a:pathLst>
              <a:path h="4884512" w="6723684">
                <a:moveTo>
                  <a:pt x="0" y="0"/>
                </a:moveTo>
                <a:lnTo>
                  <a:pt x="6723684" y="0"/>
                </a:lnTo>
                <a:lnTo>
                  <a:pt x="6723684" y="4884512"/>
                </a:lnTo>
                <a:lnTo>
                  <a:pt x="0" y="48845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8900360" y="280673"/>
            <a:ext cx="8565832" cy="1010285"/>
          </a:xfrm>
          <a:prstGeom prst="rect">
            <a:avLst/>
          </a:prstGeom>
        </p:spPr>
        <p:txBody>
          <a:bodyPr anchor="t" rtlCol="false" tIns="0" lIns="0" bIns="0" rIns="0">
            <a:spAutoFit/>
          </a:bodyPr>
          <a:lstStyle/>
          <a:p>
            <a:pPr algn="l">
              <a:lnSpc>
                <a:spcPts val="7840"/>
              </a:lnSpc>
            </a:pPr>
            <a:r>
              <a:rPr lang="en-US" sz="5600">
                <a:solidFill>
                  <a:srgbClr val="000000"/>
                </a:solidFill>
                <a:latin typeface="Poppins"/>
                <a:ea typeface="Poppins"/>
                <a:cs typeface="Poppins"/>
                <a:sym typeface="Poppins"/>
              </a:rPr>
              <a:t>Libraries </a:t>
            </a:r>
            <a:r>
              <a:rPr lang="en-US" sz="5600">
                <a:solidFill>
                  <a:srgbClr val="000000"/>
                </a:solidFill>
                <a:latin typeface="Poppins"/>
                <a:ea typeface="Poppins"/>
                <a:cs typeface="Poppins"/>
                <a:sym typeface="Poppins"/>
              </a:rPr>
              <a:t>Required:</a:t>
            </a:r>
          </a:p>
        </p:txBody>
      </p:sp>
      <p:sp>
        <p:nvSpPr>
          <p:cNvPr name="TextBox 7" id="7"/>
          <p:cNvSpPr txBox="true"/>
          <p:nvPr/>
        </p:nvSpPr>
        <p:spPr>
          <a:xfrm rot="0">
            <a:off x="7855383" y="3010643"/>
            <a:ext cx="10432617" cy="3695140"/>
          </a:xfrm>
          <a:prstGeom prst="rect">
            <a:avLst/>
          </a:prstGeom>
        </p:spPr>
        <p:txBody>
          <a:bodyPr anchor="t" rtlCol="false" tIns="0" lIns="0" bIns="0" rIns="0">
            <a:spAutoFit/>
          </a:bodyPr>
          <a:lstStyle/>
          <a:p>
            <a:pPr algn="ctr">
              <a:lnSpc>
                <a:spcPts val="4933"/>
              </a:lnSpc>
            </a:pPr>
            <a:r>
              <a:rPr lang="en-US" sz="3523">
                <a:solidFill>
                  <a:srgbClr val="FFFFFF"/>
                </a:solidFill>
                <a:latin typeface="Open Sans"/>
                <a:ea typeface="Open Sans"/>
                <a:cs typeface="Open Sans"/>
                <a:sym typeface="Open Sans"/>
              </a:rPr>
              <a:t>Pandas</a:t>
            </a:r>
          </a:p>
          <a:p>
            <a:pPr algn="ctr">
              <a:lnSpc>
                <a:spcPts val="4933"/>
              </a:lnSpc>
            </a:pPr>
            <a:r>
              <a:rPr lang="en-US" sz="3523">
                <a:solidFill>
                  <a:srgbClr val="FFFFFF"/>
                </a:solidFill>
                <a:latin typeface="Open Sans"/>
                <a:ea typeface="Open Sans"/>
                <a:cs typeface="Open Sans"/>
                <a:sym typeface="Open Sans"/>
              </a:rPr>
              <a:t>NumPy</a:t>
            </a:r>
          </a:p>
          <a:p>
            <a:pPr algn="ctr">
              <a:lnSpc>
                <a:spcPts val="4933"/>
              </a:lnSpc>
            </a:pPr>
            <a:r>
              <a:rPr lang="en-US" sz="3523">
                <a:solidFill>
                  <a:srgbClr val="FFFFFF"/>
                </a:solidFill>
                <a:latin typeface="Open Sans"/>
                <a:ea typeface="Open Sans"/>
                <a:cs typeface="Open Sans"/>
                <a:sym typeface="Open Sans"/>
              </a:rPr>
              <a:t>Scikit-learn</a:t>
            </a:r>
          </a:p>
          <a:p>
            <a:pPr algn="ctr">
              <a:lnSpc>
                <a:spcPts val="4933"/>
              </a:lnSpc>
            </a:pPr>
            <a:r>
              <a:rPr lang="en-US" sz="3523">
                <a:solidFill>
                  <a:srgbClr val="FFFFFF"/>
                </a:solidFill>
                <a:latin typeface="Open Sans"/>
                <a:ea typeface="Open Sans"/>
                <a:cs typeface="Open Sans"/>
                <a:sym typeface="Open Sans"/>
              </a:rPr>
              <a:t>Plotly</a:t>
            </a:r>
          </a:p>
          <a:p>
            <a:pPr algn="ctr">
              <a:lnSpc>
                <a:spcPts val="4933"/>
              </a:lnSpc>
            </a:pPr>
            <a:r>
              <a:rPr lang="en-US" sz="3523">
                <a:solidFill>
                  <a:srgbClr val="FFFFFF"/>
                </a:solidFill>
                <a:latin typeface="Open Sans"/>
                <a:ea typeface="Open Sans"/>
                <a:cs typeface="Open Sans"/>
                <a:sym typeface="Open Sans"/>
              </a:rPr>
              <a:t>Joblib</a:t>
            </a:r>
          </a:p>
          <a:p>
            <a:pPr algn="ctr">
              <a:lnSpc>
                <a:spcPts val="4933"/>
              </a:lnSpc>
            </a:pPr>
            <a:r>
              <a:rPr lang="en-US" sz="3523">
                <a:solidFill>
                  <a:srgbClr val="FFFFFF"/>
                </a:solidFill>
                <a:latin typeface="Open Sans"/>
                <a:ea typeface="Open Sans"/>
                <a:cs typeface="Open Sans"/>
                <a:sym typeface="Open Sans"/>
              </a:rPr>
              <a:t>Streamlit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5258304" cy="2983658"/>
            <a:chOff x="0" y="0"/>
            <a:chExt cx="1384903" cy="785819"/>
          </a:xfrm>
        </p:grpSpPr>
        <p:sp>
          <p:nvSpPr>
            <p:cNvPr name="Freeform 3" id="3"/>
            <p:cNvSpPr/>
            <p:nvPr/>
          </p:nvSpPr>
          <p:spPr>
            <a:xfrm flipH="false" flipV="false" rot="0">
              <a:off x="0" y="0"/>
              <a:ext cx="1384903" cy="785819"/>
            </a:xfrm>
            <a:custGeom>
              <a:avLst/>
              <a:gdLst/>
              <a:ahLst/>
              <a:cxnLst/>
              <a:rect r="r" b="b" t="t" l="l"/>
              <a:pathLst>
                <a:path h="785819" w="1384903">
                  <a:moveTo>
                    <a:pt x="0" y="0"/>
                  </a:moveTo>
                  <a:lnTo>
                    <a:pt x="1384903" y="0"/>
                  </a:lnTo>
                  <a:lnTo>
                    <a:pt x="1384903" y="785819"/>
                  </a:lnTo>
                  <a:lnTo>
                    <a:pt x="0" y="785819"/>
                  </a:lnTo>
                  <a:close/>
                </a:path>
              </a:pathLst>
            </a:custGeom>
            <a:solidFill>
              <a:srgbClr val="005AFF"/>
            </a:solidFill>
          </p:spPr>
        </p:sp>
        <p:sp>
          <p:nvSpPr>
            <p:cNvPr name="TextBox 4" id="4"/>
            <p:cNvSpPr txBox="true"/>
            <p:nvPr/>
          </p:nvSpPr>
          <p:spPr>
            <a:xfrm>
              <a:off x="0" y="-47625"/>
              <a:ext cx="1384903" cy="833444"/>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1028700" y="1028700"/>
            <a:ext cx="7136948" cy="8229600"/>
            <a:chOff x="0" y="0"/>
            <a:chExt cx="1292002" cy="1489805"/>
          </a:xfrm>
        </p:grpSpPr>
        <p:sp>
          <p:nvSpPr>
            <p:cNvPr name="Freeform 6" id="6"/>
            <p:cNvSpPr/>
            <p:nvPr/>
          </p:nvSpPr>
          <p:spPr>
            <a:xfrm flipH="false" flipV="false" rot="0">
              <a:off x="0" y="0"/>
              <a:ext cx="1292002" cy="1489805"/>
            </a:xfrm>
            <a:custGeom>
              <a:avLst/>
              <a:gdLst/>
              <a:ahLst/>
              <a:cxnLst/>
              <a:rect r="r" b="b" t="t" l="l"/>
              <a:pathLst>
                <a:path h="1489805" w="1292002">
                  <a:moveTo>
                    <a:pt x="0" y="0"/>
                  </a:moveTo>
                  <a:lnTo>
                    <a:pt x="1292002" y="0"/>
                  </a:lnTo>
                  <a:lnTo>
                    <a:pt x="1292002" y="1489805"/>
                  </a:lnTo>
                  <a:lnTo>
                    <a:pt x="0" y="1489805"/>
                  </a:lnTo>
                  <a:close/>
                </a:path>
              </a:pathLst>
            </a:custGeom>
            <a:blipFill>
              <a:blip r:embed="rId2"/>
              <a:stretch>
                <a:fillRect l="-46335" t="-8771" r="-43101" b="0"/>
              </a:stretch>
            </a:blipFill>
          </p:spPr>
        </p:sp>
      </p:grpSp>
      <p:grpSp>
        <p:nvGrpSpPr>
          <p:cNvPr name="Group 7" id="7"/>
          <p:cNvGrpSpPr/>
          <p:nvPr/>
        </p:nvGrpSpPr>
        <p:grpSpPr>
          <a:xfrm rot="0">
            <a:off x="8701411" y="1961203"/>
            <a:ext cx="3927062" cy="895599"/>
            <a:chOff x="0" y="0"/>
            <a:chExt cx="1034288" cy="235878"/>
          </a:xfrm>
        </p:grpSpPr>
        <p:sp>
          <p:nvSpPr>
            <p:cNvPr name="Freeform 8" id="8"/>
            <p:cNvSpPr/>
            <p:nvPr/>
          </p:nvSpPr>
          <p:spPr>
            <a:xfrm flipH="false" flipV="false" rot="0">
              <a:off x="0" y="0"/>
              <a:ext cx="1034288" cy="235878"/>
            </a:xfrm>
            <a:custGeom>
              <a:avLst/>
              <a:gdLst/>
              <a:ahLst/>
              <a:cxnLst/>
              <a:rect r="r" b="b" t="t" l="l"/>
              <a:pathLst>
                <a:path h="235878" w="1034288">
                  <a:moveTo>
                    <a:pt x="117939" y="0"/>
                  </a:moveTo>
                  <a:lnTo>
                    <a:pt x="916349" y="0"/>
                  </a:lnTo>
                  <a:cubicBezTo>
                    <a:pt x="947628" y="0"/>
                    <a:pt x="977627" y="12426"/>
                    <a:pt x="999744" y="34544"/>
                  </a:cubicBezTo>
                  <a:cubicBezTo>
                    <a:pt x="1021862" y="56661"/>
                    <a:pt x="1034288" y="86660"/>
                    <a:pt x="1034288" y="117939"/>
                  </a:cubicBezTo>
                  <a:lnTo>
                    <a:pt x="1034288" y="117939"/>
                  </a:lnTo>
                  <a:cubicBezTo>
                    <a:pt x="1034288" y="149218"/>
                    <a:pt x="1021862" y="179216"/>
                    <a:pt x="999744" y="201334"/>
                  </a:cubicBezTo>
                  <a:cubicBezTo>
                    <a:pt x="977627" y="223452"/>
                    <a:pt x="947628" y="235878"/>
                    <a:pt x="916349" y="235878"/>
                  </a:cubicBezTo>
                  <a:lnTo>
                    <a:pt x="117939" y="235878"/>
                  </a:lnTo>
                  <a:cubicBezTo>
                    <a:pt x="86660" y="235878"/>
                    <a:pt x="56661" y="223452"/>
                    <a:pt x="34544" y="201334"/>
                  </a:cubicBezTo>
                  <a:cubicBezTo>
                    <a:pt x="12426" y="179216"/>
                    <a:pt x="0" y="149218"/>
                    <a:pt x="0" y="117939"/>
                  </a:cubicBezTo>
                  <a:lnTo>
                    <a:pt x="0" y="117939"/>
                  </a:lnTo>
                  <a:cubicBezTo>
                    <a:pt x="0" y="86660"/>
                    <a:pt x="12426" y="56661"/>
                    <a:pt x="34544" y="34544"/>
                  </a:cubicBezTo>
                  <a:cubicBezTo>
                    <a:pt x="56661" y="12426"/>
                    <a:pt x="86660" y="0"/>
                    <a:pt x="117939" y="0"/>
                  </a:cubicBezTo>
                  <a:close/>
                </a:path>
              </a:pathLst>
            </a:custGeom>
            <a:solidFill>
              <a:srgbClr val="005AFF"/>
            </a:solidFill>
          </p:spPr>
        </p:sp>
        <p:sp>
          <p:nvSpPr>
            <p:cNvPr name="TextBox 9" id="9"/>
            <p:cNvSpPr txBox="true"/>
            <p:nvPr/>
          </p:nvSpPr>
          <p:spPr>
            <a:xfrm>
              <a:off x="0" y="-47625"/>
              <a:ext cx="1034288" cy="283503"/>
            </a:xfrm>
            <a:prstGeom prst="rect">
              <a:avLst/>
            </a:prstGeom>
          </p:spPr>
          <p:txBody>
            <a:bodyPr anchor="ctr" rtlCol="false" tIns="50800" lIns="50800" bIns="50800" rIns="50800"/>
            <a:lstStyle/>
            <a:p>
              <a:pPr algn="ctr">
                <a:lnSpc>
                  <a:spcPts val="2800"/>
                </a:lnSpc>
              </a:pPr>
            </a:p>
          </p:txBody>
        </p:sp>
      </p:grpSp>
      <p:sp>
        <p:nvSpPr>
          <p:cNvPr name="TextBox 10" id="10"/>
          <p:cNvSpPr txBox="true"/>
          <p:nvPr/>
        </p:nvSpPr>
        <p:spPr>
          <a:xfrm rot="0">
            <a:off x="12029459" y="6026174"/>
            <a:ext cx="2442230" cy="349249"/>
          </a:xfrm>
          <a:prstGeom prst="rect">
            <a:avLst/>
          </a:prstGeom>
        </p:spPr>
        <p:txBody>
          <a:bodyPr anchor="t" rtlCol="false" tIns="0" lIns="0" bIns="0" rIns="0">
            <a:spAutoFit/>
          </a:bodyPr>
          <a:lstStyle/>
          <a:p>
            <a:pPr algn="ctr">
              <a:lnSpc>
                <a:spcPts val="2800"/>
              </a:lnSpc>
            </a:pPr>
            <a:r>
              <a:rPr lang="en-US" sz="2000">
                <a:solidFill>
                  <a:srgbClr val="FFFFFF"/>
                </a:solidFill>
                <a:latin typeface="Open Sans"/>
                <a:ea typeface="Open Sans"/>
                <a:cs typeface="Open Sans"/>
                <a:sym typeface="Open Sans"/>
              </a:rPr>
              <a:t>Click Here</a:t>
            </a:r>
          </a:p>
        </p:txBody>
      </p:sp>
      <p:grpSp>
        <p:nvGrpSpPr>
          <p:cNvPr name="Group 11" id="11"/>
          <p:cNvGrpSpPr/>
          <p:nvPr/>
        </p:nvGrpSpPr>
        <p:grpSpPr>
          <a:xfrm rot="0">
            <a:off x="13250574" y="1961203"/>
            <a:ext cx="4097426" cy="895599"/>
            <a:chOff x="0" y="0"/>
            <a:chExt cx="1079157" cy="235878"/>
          </a:xfrm>
        </p:grpSpPr>
        <p:sp>
          <p:nvSpPr>
            <p:cNvPr name="Freeform 12" id="12"/>
            <p:cNvSpPr/>
            <p:nvPr/>
          </p:nvSpPr>
          <p:spPr>
            <a:xfrm flipH="false" flipV="false" rot="0">
              <a:off x="0" y="0"/>
              <a:ext cx="1079157" cy="235878"/>
            </a:xfrm>
            <a:custGeom>
              <a:avLst/>
              <a:gdLst/>
              <a:ahLst/>
              <a:cxnLst/>
              <a:rect r="r" b="b" t="t" l="l"/>
              <a:pathLst>
                <a:path h="235878" w="1079157">
                  <a:moveTo>
                    <a:pt x="117939" y="0"/>
                  </a:moveTo>
                  <a:lnTo>
                    <a:pt x="961219" y="0"/>
                  </a:lnTo>
                  <a:cubicBezTo>
                    <a:pt x="992498" y="0"/>
                    <a:pt x="1022496" y="12426"/>
                    <a:pt x="1044614" y="34544"/>
                  </a:cubicBezTo>
                  <a:cubicBezTo>
                    <a:pt x="1066732" y="56661"/>
                    <a:pt x="1079157" y="86660"/>
                    <a:pt x="1079157" y="117939"/>
                  </a:cubicBezTo>
                  <a:lnTo>
                    <a:pt x="1079157" y="117939"/>
                  </a:lnTo>
                  <a:cubicBezTo>
                    <a:pt x="1079157" y="149218"/>
                    <a:pt x="1066732" y="179216"/>
                    <a:pt x="1044614" y="201334"/>
                  </a:cubicBezTo>
                  <a:cubicBezTo>
                    <a:pt x="1022496" y="223452"/>
                    <a:pt x="992498" y="235878"/>
                    <a:pt x="961219" y="235878"/>
                  </a:cubicBezTo>
                  <a:lnTo>
                    <a:pt x="117939" y="235878"/>
                  </a:lnTo>
                  <a:cubicBezTo>
                    <a:pt x="86660" y="235878"/>
                    <a:pt x="56661" y="223452"/>
                    <a:pt x="34544" y="201334"/>
                  </a:cubicBezTo>
                  <a:cubicBezTo>
                    <a:pt x="12426" y="179216"/>
                    <a:pt x="0" y="149218"/>
                    <a:pt x="0" y="117939"/>
                  </a:cubicBezTo>
                  <a:lnTo>
                    <a:pt x="0" y="117939"/>
                  </a:lnTo>
                  <a:cubicBezTo>
                    <a:pt x="0" y="86660"/>
                    <a:pt x="12426" y="56661"/>
                    <a:pt x="34544" y="34544"/>
                  </a:cubicBezTo>
                  <a:cubicBezTo>
                    <a:pt x="56661" y="12426"/>
                    <a:pt x="86660" y="0"/>
                    <a:pt x="117939" y="0"/>
                  </a:cubicBezTo>
                  <a:close/>
                </a:path>
              </a:pathLst>
            </a:custGeom>
            <a:solidFill>
              <a:srgbClr val="005AFF"/>
            </a:solidFill>
          </p:spPr>
        </p:sp>
        <p:sp>
          <p:nvSpPr>
            <p:cNvPr name="TextBox 13" id="13"/>
            <p:cNvSpPr txBox="true"/>
            <p:nvPr/>
          </p:nvSpPr>
          <p:spPr>
            <a:xfrm>
              <a:off x="0" y="-47625"/>
              <a:ext cx="1079157" cy="283503"/>
            </a:xfrm>
            <a:prstGeom prst="rect">
              <a:avLst/>
            </a:prstGeom>
          </p:spPr>
          <p:txBody>
            <a:bodyPr anchor="ctr" rtlCol="false" tIns="50800" lIns="50800" bIns="50800" rIns="50800"/>
            <a:lstStyle/>
            <a:p>
              <a:pPr algn="ctr">
                <a:lnSpc>
                  <a:spcPts val="2800"/>
                </a:lnSpc>
              </a:pPr>
            </a:p>
          </p:txBody>
        </p:sp>
      </p:grpSp>
      <p:grpSp>
        <p:nvGrpSpPr>
          <p:cNvPr name="Group 14" id="14"/>
          <p:cNvGrpSpPr/>
          <p:nvPr/>
        </p:nvGrpSpPr>
        <p:grpSpPr>
          <a:xfrm rot="0">
            <a:off x="10663798" y="5829847"/>
            <a:ext cx="4517561" cy="895599"/>
            <a:chOff x="0" y="0"/>
            <a:chExt cx="1189810" cy="235878"/>
          </a:xfrm>
        </p:grpSpPr>
        <p:sp>
          <p:nvSpPr>
            <p:cNvPr name="Freeform 15" id="15"/>
            <p:cNvSpPr/>
            <p:nvPr/>
          </p:nvSpPr>
          <p:spPr>
            <a:xfrm flipH="false" flipV="false" rot="0">
              <a:off x="0" y="0"/>
              <a:ext cx="1189810" cy="235878"/>
            </a:xfrm>
            <a:custGeom>
              <a:avLst/>
              <a:gdLst/>
              <a:ahLst/>
              <a:cxnLst/>
              <a:rect r="r" b="b" t="t" l="l"/>
              <a:pathLst>
                <a:path h="235878" w="1189810">
                  <a:moveTo>
                    <a:pt x="117939" y="0"/>
                  </a:moveTo>
                  <a:lnTo>
                    <a:pt x="1071871" y="0"/>
                  </a:lnTo>
                  <a:cubicBezTo>
                    <a:pt x="1103151" y="0"/>
                    <a:pt x="1133149" y="12426"/>
                    <a:pt x="1155267" y="34544"/>
                  </a:cubicBezTo>
                  <a:cubicBezTo>
                    <a:pt x="1177385" y="56661"/>
                    <a:pt x="1189810" y="86660"/>
                    <a:pt x="1189810" y="117939"/>
                  </a:cubicBezTo>
                  <a:lnTo>
                    <a:pt x="1189810" y="117939"/>
                  </a:lnTo>
                  <a:cubicBezTo>
                    <a:pt x="1189810" y="149218"/>
                    <a:pt x="1177385" y="179216"/>
                    <a:pt x="1155267" y="201334"/>
                  </a:cubicBezTo>
                  <a:cubicBezTo>
                    <a:pt x="1133149" y="223452"/>
                    <a:pt x="1103151" y="235878"/>
                    <a:pt x="1071871" y="235878"/>
                  </a:cubicBezTo>
                  <a:lnTo>
                    <a:pt x="117939" y="235878"/>
                  </a:lnTo>
                  <a:cubicBezTo>
                    <a:pt x="86660" y="235878"/>
                    <a:pt x="56661" y="223452"/>
                    <a:pt x="34544" y="201334"/>
                  </a:cubicBezTo>
                  <a:cubicBezTo>
                    <a:pt x="12426" y="179216"/>
                    <a:pt x="0" y="149218"/>
                    <a:pt x="0" y="117939"/>
                  </a:cubicBezTo>
                  <a:lnTo>
                    <a:pt x="0" y="117939"/>
                  </a:lnTo>
                  <a:cubicBezTo>
                    <a:pt x="0" y="86660"/>
                    <a:pt x="12426" y="56661"/>
                    <a:pt x="34544" y="34544"/>
                  </a:cubicBezTo>
                  <a:cubicBezTo>
                    <a:pt x="56661" y="12426"/>
                    <a:pt x="86660" y="0"/>
                    <a:pt x="117939" y="0"/>
                  </a:cubicBezTo>
                  <a:close/>
                </a:path>
              </a:pathLst>
            </a:custGeom>
            <a:solidFill>
              <a:srgbClr val="005AFF"/>
            </a:solidFill>
          </p:spPr>
        </p:sp>
        <p:sp>
          <p:nvSpPr>
            <p:cNvPr name="TextBox 16" id="16"/>
            <p:cNvSpPr txBox="true"/>
            <p:nvPr/>
          </p:nvSpPr>
          <p:spPr>
            <a:xfrm>
              <a:off x="0" y="-57150"/>
              <a:ext cx="1189810" cy="293028"/>
            </a:xfrm>
            <a:prstGeom prst="rect">
              <a:avLst/>
            </a:prstGeom>
          </p:spPr>
          <p:txBody>
            <a:bodyPr anchor="ctr" rtlCol="false" tIns="50800" lIns="50800" bIns="50800" rIns="50800"/>
            <a:lstStyle/>
            <a:p>
              <a:pPr algn="ctr">
                <a:lnSpc>
                  <a:spcPts val="3920"/>
                </a:lnSpc>
              </a:pPr>
              <a:r>
                <a:rPr lang="en-US" sz="2800">
                  <a:solidFill>
                    <a:srgbClr val="FFFFFF"/>
                  </a:solidFill>
                  <a:latin typeface="Open Sans"/>
                  <a:ea typeface="Open Sans"/>
                  <a:cs typeface="Open Sans"/>
                  <a:sym typeface="Open Sans"/>
                </a:rPr>
                <a:t>Environmental Conditions</a:t>
              </a:r>
            </a:p>
          </p:txBody>
        </p:sp>
      </p:grpSp>
      <p:sp>
        <p:nvSpPr>
          <p:cNvPr name="TextBox 17" id="17"/>
          <p:cNvSpPr txBox="true"/>
          <p:nvPr/>
        </p:nvSpPr>
        <p:spPr>
          <a:xfrm rot="0">
            <a:off x="8701411" y="240743"/>
            <a:ext cx="9098325" cy="958386"/>
          </a:xfrm>
          <a:prstGeom prst="rect">
            <a:avLst/>
          </a:prstGeom>
        </p:spPr>
        <p:txBody>
          <a:bodyPr anchor="t" rtlCol="false" tIns="0" lIns="0" bIns="0" rIns="0">
            <a:spAutoFit/>
          </a:bodyPr>
          <a:lstStyle/>
          <a:p>
            <a:pPr algn="l">
              <a:lnSpc>
                <a:spcPts val="7435"/>
              </a:lnSpc>
            </a:pPr>
            <a:r>
              <a:rPr lang="en-US" sz="5311">
                <a:solidFill>
                  <a:srgbClr val="000000"/>
                </a:solidFill>
                <a:latin typeface="Poppins"/>
                <a:ea typeface="Poppins"/>
                <a:cs typeface="Poppins"/>
                <a:sym typeface="Poppins"/>
              </a:rPr>
              <a:t>What Da</a:t>
            </a:r>
            <a:r>
              <a:rPr lang="en-US" sz="5311">
                <a:solidFill>
                  <a:srgbClr val="000000"/>
                </a:solidFill>
                <a:latin typeface="Poppins"/>
                <a:ea typeface="Poppins"/>
                <a:cs typeface="Poppins"/>
                <a:sym typeface="Poppins"/>
              </a:rPr>
              <a:t>ta Do We Monitor?</a:t>
            </a:r>
          </a:p>
        </p:txBody>
      </p:sp>
      <p:sp>
        <p:nvSpPr>
          <p:cNvPr name="TextBox 18" id="18"/>
          <p:cNvSpPr txBox="true"/>
          <p:nvPr/>
        </p:nvSpPr>
        <p:spPr>
          <a:xfrm rot="0">
            <a:off x="8701411" y="2101670"/>
            <a:ext cx="3927062" cy="481330"/>
          </a:xfrm>
          <a:prstGeom prst="rect">
            <a:avLst/>
          </a:prstGeom>
        </p:spPr>
        <p:txBody>
          <a:bodyPr anchor="t" rtlCol="false" tIns="0" lIns="0" bIns="0" rIns="0">
            <a:spAutoFit/>
          </a:bodyPr>
          <a:lstStyle/>
          <a:p>
            <a:pPr algn="ctr">
              <a:lnSpc>
                <a:spcPts val="3920"/>
              </a:lnSpc>
            </a:pPr>
            <a:r>
              <a:rPr lang="en-US" sz="2800">
                <a:solidFill>
                  <a:srgbClr val="FFFFFF"/>
                </a:solidFill>
                <a:latin typeface="Open Sans"/>
                <a:ea typeface="Open Sans"/>
                <a:cs typeface="Open Sans"/>
                <a:sym typeface="Open Sans"/>
              </a:rPr>
              <a:t>Student Conditions</a:t>
            </a:r>
          </a:p>
        </p:txBody>
      </p:sp>
      <p:sp>
        <p:nvSpPr>
          <p:cNvPr name="TextBox 19" id="19"/>
          <p:cNvSpPr txBox="true"/>
          <p:nvPr/>
        </p:nvSpPr>
        <p:spPr>
          <a:xfrm rot="0">
            <a:off x="13393084" y="2179702"/>
            <a:ext cx="3576551" cy="481330"/>
          </a:xfrm>
          <a:prstGeom prst="rect">
            <a:avLst/>
          </a:prstGeom>
        </p:spPr>
        <p:txBody>
          <a:bodyPr anchor="t" rtlCol="false" tIns="0" lIns="0" bIns="0" rIns="0">
            <a:spAutoFit/>
          </a:bodyPr>
          <a:lstStyle/>
          <a:p>
            <a:pPr algn="ctr">
              <a:lnSpc>
                <a:spcPts val="3920"/>
              </a:lnSpc>
            </a:pPr>
            <a:r>
              <a:rPr lang="en-US" sz="2800">
                <a:solidFill>
                  <a:srgbClr val="FFFFFF"/>
                </a:solidFill>
                <a:latin typeface="Open Sans"/>
                <a:ea typeface="Open Sans"/>
                <a:cs typeface="Open Sans"/>
                <a:sym typeface="Open Sans"/>
              </a:rPr>
              <a:t>Campus Conditions</a:t>
            </a:r>
          </a:p>
        </p:txBody>
      </p:sp>
      <p:sp>
        <p:nvSpPr>
          <p:cNvPr name="TextBox 20" id="20"/>
          <p:cNvSpPr txBox="true"/>
          <p:nvPr/>
        </p:nvSpPr>
        <p:spPr>
          <a:xfrm rot="0">
            <a:off x="8831948" y="3205056"/>
            <a:ext cx="4008801" cy="1740954"/>
          </a:xfrm>
          <a:prstGeom prst="rect">
            <a:avLst/>
          </a:prstGeom>
        </p:spPr>
        <p:txBody>
          <a:bodyPr anchor="t" rtlCol="false" tIns="0" lIns="0" bIns="0" rIns="0">
            <a:spAutoFit/>
          </a:bodyPr>
          <a:lstStyle/>
          <a:p>
            <a:pPr algn="l" marL="538076" indent="-269038" lvl="1">
              <a:lnSpc>
                <a:spcPts val="3489"/>
              </a:lnSpc>
              <a:buFont typeface="Arial"/>
              <a:buChar char="•"/>
            </a:pPr>
            <a:r>
              <a:rPr lang="en-US" sz="2492">
                <a:solidFill>
                  <a:srgbClr val="000000"/>
                </a:solidFill>
                <a:latin typeface="Open Sans"/>
                <a:ea typeface="Open Sans"/>
                <a:cs typeface="Open Sans"/>
                <a:sym typeface="Open Sans"/>
              </a:rPr>
              <a:t>Attendance</a:t>
            </a:r>
          </a:p>
          <a:p>
            <a:pPr algn="l" marL="538076" indent="-269038" lvl="1">
              <a:lnSpc>
                <a:spcPts val="3489"/>
              </a:lnSpc>
              <a:buFont typeface="Arial"/>
              <a:buChar char="•"/>
            </a:pPr>
            <a:r>
              <a:rPr lang="en-US" sz="2492">
                <a:solidFill>
                  <a:srgbClr val="000000"/>
                </a:solidFill>
                <a:latin typeface="Open Sans"/>
                <a:ea typeface="Open Sans"/>
                <a:cs typeface="Open Sans"/>
                <a:sym typeface="Open Sans"/>
              </a:rPr>
              <a:t>GPA</a:t>
            </a:r>
          </a:p>
          <a:p>
            <a:pPr algn="l" marL="538076" indent="-269038" lvl="1">
              <a:lnSpc>
                <a:spcPts val="3489"/>
              </a:lnSpc>
              <a:buFont typeface="Arial"/>
              <a:buChar char="•"/>
            </a:pPr>
            <a:r>
              <a:rPr lang="en-US" sz="2492">
                <a:solidFill>
                  <a:srgbClr val="000000"/>
                </a:solidFill>
                <a:latin typeface="Open Sans"/>
                <a:ea typeface="Open Sans"/>
                <a:cs typeface="Open Sans"/>
                <a:sym typeface="Open Sans"/>
              </a:rPr>
              <a:t>Assignment completion</a:t>
            </a:r>
          </a:p>
          <a:p>
            <a:pPr algn="l" marL="538076" indent="-269038" lvl="1">
              <a:lnSpc>
                <a:spcPts val="3489"/>
              </a:lnSpc>
              <a:buFont typeface="Arial"/>
              <a:buChar char="•"/>
            </a:pPr>
            <a:r>
              <a:rPr lang="en-US" sz="2492">
                <a:solidFill>
                  <a:srgbClr val="000000"/>
                </a:solidFill>
                <a:latin typeface="Open Sans"/>
                <a:ea typeface="Open Sans"/>
                <a:cs typeface="Open Sans"/>
                <a:sym typeface="Open Sans"/>
              </a:rPr>
              <a:t>Backlogs</a:t>
            </a:r>
          </a:p>
        </p:txBody>
      </p:sp>
      <p:sp>
        <p:nvSpPr>
          <p:cNvPr name="TextBox 21" id="21"/>
          <p:cNvSpPr txBox="true"/>
          <p:nvPr/>
        </p:nvSpPr>
        <p:spPr>
          <a:xfrm rot="0">
            <a:off x="13507499" y="2987968"/>
            <a:ext cx="3692822" cy="2175129"/>
          </a:xfrm>
          <a:prstGeom prst="rect">
            <a:avLst/>
          </a:prstGeom>
        </p:spPr>
        <p:txBody>
          <a:bodyPr anchor="t" rtlCol="false" tIns="0" lIns="0" bIns="0" rIns="0">
            <a:spAutoFit/>
          </a:bodyPr>
          <a:lstStyle/>
          <a:p>
            <a:pPr algn="l" marL="537591" indent="-268796" lvl="1">
              <a:lnSpc>
                <a:spcPts val="3486"/>
              </a:lnSpc>
              <a:buFont typeface="Arial"/>
              <a:buChar char="•"/>
            </a:pPr>
            <a:r>
              <a:rPr lang="en-US" sz="2490">
                <a:solidFill>
                  <a:srgbClr val="000000"/>
                </a:solidFill>
                <a:latin typeface="Open Sans"/>
                <a:ea typeface="Open Sans"/>
                <a:cs typeface="Open Sans"/>
                <a:sym typeface="Open Sans"/>
              </a:rPr>
              <a:t>Occupancy</a:t>
            </a:r>
          </a:p>
          <a:p>
            <a:pPr algn="l" marL="537591" indent="-268796" lvl="1">
              <a:lnSpc>
                <a:spcPts val="3486"/>
              </a:lnSpc>
              <a:buFont typeface="Arial"/>
              <a:buChar char="•"/>
            </a:pPr>
            <a:r>
              <a:rPr lang="en-US" sz="2490">
                <a:solidFill>
                  <a:srgbClr val="000000"/>
                </a:solidFill>
                <a:latin typeface="Open Sans"/>
                <a:ea typeface="Open Sans"/>
                <a:cs typeface="Open Sans"/>
                <a:sym typeface="Open Sans"/>
              </a:rPr>
              <a:t>Electricity usage</a:t>
            </a:r>
          </a:p>
          <a:p>
            <a:pPr algn="l" marL="537591" indent="-268796" lvl="1">
              <a:lnSpc>
                <a:spcPts val="3486"/>
              </a:lnSpc>
              <a:buFont typeface="Arial"/>
              <a:buChar char="•"/>
            </a:pPr>
            <a:r>
              <a:rPr lang="en-US" sz="2490">
                <a:solidFill>
                  <a:srgbClr val="000000"/>
                </a:solidFill>
                <a:latin typeface="Open Sans"/>
                <a:ea typeface="Open Sans"/>
                <a:cs typeface="Open Sans"/>
                <a:sym typeface="Open Sans"/>
              </a:rPr>
              <a:t>Internet usage</a:t>
            </a:r>
          </a:p>
          <a:p>
            <a:pPr algn="l" marL="537591" indent="-268796" lvl="1">
              <a:lnSpc>
                <a:spcPts val="3486"/>
              </a:lnSpc>
              <a:buFont typeface="Arial"/>
              <a:buChar char="•"/>
            </a:pPr>
            <a:r>
              <a:rPr lang="en-US" sz="2490">
                <a:solidFill>
                  <a:srgbClr val="000000"/>
                </a:solidFill>
                <a:latin typeface="Open Sans"/>
                <a:ea typeface="Open Sans"/>
                <a:cs typeface="Open Sans"/>
                <a:sym typeface="Open Sans"/>
              </a:rPr>
              <a:t>Maintenance complaints</a:t>
            </a:r>
          </a:p>
        </p:txBody>
      </p:sp>
      <p:sp>
        <p:nvSpPr>
          <p:cNvPr name="TextBox 22" id="22"/>
          <p:cNvSpPr txBox="true"/>
          <p:nvPr/>
        </p:nvSpPr>
        <p:spPr>
          <a:xfrm rot="0">
            <a:off x="11139240" y="7049296"/>
            <a:ext cx="2978468" cy="2175072"/>
          </a:xfrm>
          <a:prstGeom prst="rect">
            <a:avLst/>
          </a:prstGeom>
        </p:spPr>
        <p:txBody>
          <a:bodyPr anchor="t" rtlCol="false" tIns="0" lIns="0" bIns="0" rIns="0">
            <a:spAutoFit/>
          </a:bodyPr>
          <a:lstStyle/>
          <a:p>
            <a:pPr algn="l" marL="538077" indent="-269038" lvl="1">
              <a:lnSpc>
                <a:spcPts val="3489"/>
              </a:lnSpc>
              <a:buFont typeface="Arial"/>
              <a:buChar char="•"/>
            </a:pPr>
            <a:r>
              <a:rPr lang="en-US" sz="2492">
                <a:solidFill>
                  <a:srgbClr val="000000"/>
                </a:solidFill>
                <a:latin typeface="Open Sans"/>
                <a:ea typeface="Open Sans"/>
                <a:cs typeface="Open Sans"/>
                <a:sym typeface="Open Sans"/>
              </a:rPr>
              <a:t>Temperature</a:t>
            </a:r>
          </a:p>
          <a:p>
            <a:pPr algn="l" marL="538077" indent="-269038" lvl="1">
              <a:lnSpc>
                <a:spcPts val="3489"/>
              </a:lnSpc>
              <a:buFont typeface="Arial"/>
              <a:buChar char="•"/>
            </a:pPr>
            <a:r>
              <a:rPr lang="en-US" sz="2492">
                <a:solidFill>
                  <a:srgbClr val="000000"/>
                </a:solidFill>
                <a:latin typeface="Open Sans"/>
                <a:ea typeface="Open Sans"/>
                <a:cs typeface="Open Sans"/>
                <a:sym typeface="Open Sans"/>
              </a:rPr>
              <a:t>Humidity</a:t>
            </a:r>
          </a:p>
          <a:p>
            <a:pPr algn="l" marL="538077" indent="-269038" lvl="1">
              <a:lnSpc>
                <a:spcPts val="3489"/>
              </a:lnSpc>
              <a:buFont typeface="Arial"/>
              <a:buChar char="•"/>
            </a:pPr>
            <a:r>
              <a:rPr lang="en-US" sz="2492">
                <a:solidFill>
                  <a:srgbClr val="000000"/>
                </a:solidFill>
                <a:latin typeface="Open Sans"/>
                <a:ea typeface="Open Sans"/>
                <a:cs typeface="Open Sans"/>
                <a:sym typeface="Open Sans"/>
              </a:rPr>
              <a:t>Rainfall</a:t>
            </a:r>
          </a:p>
          <a:p>
            <a:pPr algn="l" marL="538077" indent="-269038" lvl="1">
              <a:lnSpc>
                <a:spcPts val="3489"/>
              </a:lnSpc>
              <a:buFont typeface="Arial"/>
              <a:buChar char="•"/>
            </a:pPr>
            <a:r>
              <a:rPr lang="en-US" sz="2492">
                <a:solidFill>
                  <a:srgbClr val="000000"/>
                </a:solidFill>
                <a:latin typeface="Open Sans"/>
                <a:ea typeface="Open Sans"/>
                <a:cs typeface="Open Sans"/>
                <a:sym typeface="Open Sans"/>
              </a:rPr>
              <a:t>Water level</a:t>
            </a:r>
          </a:p>
          <a:p>
            <a:pPr algn="l" marL="538077" indent="-269038" lvl="1">
              <a:lnSpc>
                <a:spcPts val="3489"/>
              </a:lnSpc>
              <a:buFont typeface="Arial"/>
              <a:buChar char="•"/>
            </a:pPr>
            <a:r>
              <a:rPr lang="en-US" sz="2492">
                <a:solidFill>
                  <a:srgbClr val="000000"/>
                </a:solidFill>
                <a:latin typeface="Open Sans"/>
                <a:ea typeface="Open Sans"/>
                <a:cs typeface="Open Sans"/>
                <a:sym typeface="Open Sans"/>
              </a:rPr>
              <a:t>Air Quality Index</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029695" y="-180823"/>
            <a:ext cx="5258305" cy="10467823"/>
          </a:xfrm>
          <a:custGeom>
            <a:avLst/>
            <a:gdLst/>
            <a:ahLst/>
            <a:cxnLst/>
            <a:rect r="r" b="b" t="t" l="l"/>
            <a:pathLst>
              <a:path h="10467823" w="5258305">
                <a:moveTo>
                  <a:pt x="0" y="0"/>
                </a:moveTo>
                <a:lnTo>
                  <a:pt x="5258305" y="0"/>
                </a:lnTo>
                <a:lnTo>
                  <a:pt x="5258305" y="10467823"/>
                </a:lnTo>
                <a:lnTo>
                  <a:pt x="0" y="10467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92401" y="475974"/>
            <a:ext cx="7147017" cy="9238240"/>
            <a:chOff x="0" y="0"/>
            <a:chExt cx="9529356" cy="12317654"/>
          </a:xfrm>
        </p:grpSpPr>
        <p:sp>
          <p:nvSpPr>
            <p:cNvPr name="Freeform 4" id="4"/>
            <p:cNvSpPr/>
            <p:nvPr/>
          </p:nvSpPr>
          <p:spPr>
            <a:xfrm flipH="false" flipV="false" rot="0">
              <a:off x="0" y="0"/>
              <a:ext cx="9529318" cy="12317603"/>
            </a:xfrm>
            <a:custGeom>
              <a:avLst/>
              <a:gdLst/>
              <a:ahLst/>
              <a:cxnLst/>
              <a:rect r="r" b="b" t="t" l="l"/>
              <a:pathLst>
                <a:path h="12317603" w="9529318">
                  <a:moveTo>
                    <a:pt x="0" y="0"/>
                  </a:moveTo>
                  <a:lnTo>
                    <a:pt x="9529318" y="0"/>
                  </a:lnTo>
                  <a:lnTo>
                    <a:pt x="9529318" y="12317603"/>
                  </a:lnTo>
                  <a:lnTo>
                    <a:pt x="0" y="12317603"/>
                  </a:lnTo>
                  <a:close/>
                </a:path>
              </a:pathLst>
            </a:custGeom>
            <a:blipFill>
              <a:blip r:embed="rId4"/>
              <a:stretch>
                <a:fillRect l="0" t="-1978" r="0" b="-1978"/>
              </a:stretch>
            </a:blipFill>
          </p:spPr>
        </p:sp>
      </p:grpSp>
      <p:sp>
        <p:nvSpPr>
          <p:cNvPr name="Freeform 5" id="5"/>
          <p:cNvSpPr/>
          <p:nvPr/>
        </p:nvSpPr>
        <p:spPr>
          <a:xfrm flipH="false" flipV="false" rot="0">
            <a:off x="716023" y="406746"/>
            <a:ext cx="5105057" cy="858193"/>
          </a:xfrm>
          <a:custGeom>
            <a:avLst/>
            <a:gdLst/>
            <a:ahLst/>
            <a:cxnLst/>
            <a:rect r="r" b="b" t="t" l="l"/>
            <a:pathLst>
              <a:path h="858193" w="5105057">
                <a:moveTo>
                  <a:pt x="0" y="0"/>
                </a:moveTo>
                <a:lnTo>
                  <a:pt x="5105057" y="0"/>
                </a:lnTo>
                <a:lnTo>
                  <a:pt x="5105057" y="858193"/>
                </a:lnTo>
                <a:lnTo>
                  <a:pt x="0" y="85819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352321" y="1953473"/>
            <a:ext cx="7791679" cy="7132320"/>
          </a:xfrm>
          <a:prstGeom prst="rect">
            <a:avLst/>
          </a:prstGeom>
        </p:spPr>
        <p:txBody>
          <a:bodyPr anchor="t" rtlCol="false" tIns="0" lIns="0" bIns="0" rIns="0">
            <a:spAutoFit/>
          </a:bodyPr>
          <a:lstStyle/>
          <a:p>
            <a:pPr algn="ctr">
              <a:lnSpc>
                <a:spcPts val="3779"/>
              </a:lnSpc>
            </a:pPr>
            <a:r>
              <a:rPr lang="en-US" sz="2700">
                <a:solidFill>
                  <a:srgbClr val="434032"/>
                </a:solidFill>
                <a:latin typeface="Open Sans"/>
                <a:ea typeface="Open Sans"/>
                <a:cs typeface="Open Sans"/>
                <a:sym typeface="Open Sans"/>
              </a:rPr>
              <a:t>Campus Data Input</a:t>
            </a:r>
          </a:p>
          <a:p>
            <a:pPr algn="ctr">
              <a:lnSpc>
                <a:spcPts val="3779"/>
              </a:lnSpc>
            </a:pPr>
            <a:r>
              <a:rPr lang="en-US" sz="2700">
                <a:solidFill>
                  <a:srgbClr val="434032"/>
                </a:solidFill>
                <a:latin typeface="Open Sans"/>
                <a:ea typeface="Open Sans"/>
                <a:cs typeface="Open Sans"/>
                <a:sym typeface="Open Sans"/>
              </a:rPr>
              <a:t> ⬇</a:t>
            </a:r>
          </a:p>
          <a:p>
            <a:pPr algn="ctr">
              <a:lnSpc>
                <a:spcPts val="3779"/>
              </a:lnSpc>
            </a:pPr>
            <a:r>
              <a:rPr lang="en-US" sz="2700">
                <a:solidFill>
                  <a:srgbClr val="434032"/>
                </a:solidFill>
                <a:latin typeface="Open Sans"/>
                <a:ea typeface="Open Sans"/>
                <a:cs typeface="Open Sans"/>
                <a:sym typeface="Open Sans"/>
              </a:rPr>
              <a:t>Data Preprocessing</a:t>
            </a:r>
          </a:p>
          <a:p>
            <a:pPr algn="ctr">
              <a:lnSpc>
                <a:spcPts val="3779"/>
              </a:lnSpc>
            </a:pPr>
            <a:r>
              <a:rPr lang="en-US" sz="2700">
                <a:solidFill>
                  <a:srgbClr val="434032"/>
                </a:solidFill>
                <a:latin typeface="Open Sans"/>
                <a:ea typeface="Open Sans"/>
                <a:cs typeface="Open Sans"/>
                <a:sym typeface="Open Sans"/>
              </a:rPr>
              <a:t>⬇</a:t>
            </a:r>
          </a:p>
          <a:p>
            <a:pPr algn="ctr">
              <a:lnSpc>
                <a:spcPts val="3779"/>
              </a:lnSpc>
            </a:pPr>
            <a:r>
              <a:rPr lang="en-US" sz="2700">
                <a:solidFill>
                  <a:srgbClr val="434032"/>
                </a:solidFill>
                <a:latin typeface="Open Sans"/>
                <a:ea typeface="Open Sans"/>
                <a:cs typeface="Open Sans"/>
                <a:sym typeface="Open Sans"/>
              </a:rPr>
              <a:t>Machine Learning Model</a:t>
            </a:r>
          </a:p>
          <a:p>
            <a:pPr algn="ctr">
              <a:lnSpc>
                <a:spcPts val="3779"/>
              </a:lnSpc>
            </a:pPr>
            <a:r>
              <a:rPr lang="en-US" sz="2700">
                <a:solidFill>
                  <a:srgbClr val="434032"/>
                </a:solidFill>
                <a:latin typeface="Open Sans"/>
                <a:ea typeface="Open Sans"/>
                <a:cs typeface="Open Sans"/>
                <a:sym typeface="Open Sans"/>
              </a:rPr>
              <a:t> </a:t>
            </a:r>
          </a:p>
          <a:p>
            <a:pPr algn="ctr">
              <a:lnSpc>
                <a:spcPts val="3779"/>
              </a:lnSpc>
            </a:pPr>
            <a:r>
              <a:rPr lang="en-US" sz="2700">
                <a:solidFill>
                  <a:srgbClr val="434032"/>
                </a:solidFill>
                <a:latin typeface="Open Sans"/>
                <a:ea typeface="Open Sans"/>
                <a:cs typeface="Open Sans"/>
                <a:sym typeface="Open Sans"/>
              </a:rPr>
              <a:t> Risk Prediction</a:t>
            </a:r>
          </a:p>
          <a:p>
            <a:pPr algn="ctr">
              <a:lnSpc>
                <a:spcPts val="3779"/>
              </a:lnSpc>
            </a:pPr>
            <a:r>
              <a:rPr lang="en-US" sz="2700">
                <a:solidFill>
                  <a:srgbClr val="434032"/>
                </a:solidFill>
                <a:latin typeface="Open Sans"/>
                <a:ea typeface="Open Sans"/>
                <a:cs typeface="Open Sans"/>
                <a:sym typeface="Open Sans"/>
              </a:rPr>
              <a:t> ⬇</a:t>
            </a:r>
          </a:p>
          <a:p>
            <a:pPr algn="ctr">
              <a:lnSpc>
                <a:spcPts val="3779"/>
              </a:lnSpc>
            </a:pPr>
            <a:r>
              <a:rPr lang="en-US" sz="2700">
                <a:solidFill>
                  <a:srgbClr val="434032"/>
                </a:solidFill>
                <a:latin typeface="Open Sans"/>
                <a:ea typeface="Open Sans"/>
                <a:cs typeface="Open Sans"/>
                <a:sym typeface="Open Sans"/>
              </a:rPr>
              <a:t>Risk Classification</a:t>
            </a:r>
          </a:p>
          <a:p>
            <a:pPr algn="ctr">
              <a:lnSpc>
                <a:spcPts val="3779"/>
              </a:lnSpc>
            </a:pPr>
            <a:r>
              <a:rPr lang="en-US" sz="2700">
                <a:solidFill>
                  <a:srgbClr val="434032"/>
                </a:solidFill>
                <a:latin typeface="Open Sans"/>
                <a:ea typeface="Open Sans"/>
                <a:cs typeface="Open Sans"/>
                <a:sym typeface="Open Sans"/>
              </a:rPr>
              <a:t> ⬇</a:t>
            </a:r>
          </a:p>
          <a:p>
            <a:pPr algn="ctr">
              <a:lnSpc>
                <a:spcPts val="3779"/>
              </a:lnSpc>
            </a:pPr>
            <a:r>
              <a:rPr lang="en-US" sz="2700">
                <a:solidFill>
                  <a:srgbClr val="434032"/>
                </a:solidFill>
                <a:latin typeface="Open Sans"/>
                <a:ea typeface="Open Sans"/>
                <a:cs typeface="Open Sans"/>
                <a:sym typeface="Open Sans"/>
              </a:rPr>
              <a:t>Early Warning Generation</a:t>
            </a:r>
          </a:p>
          <a:p>
            <a:pPr algn="ctr">
              <a:lnSpc>
                <a:spcPts val="3779"/>
              </a:lnSpc>
            </a:pPr>
            <a:r>
              <a:rPr lang="en-US" sz="2700">
                <a:solidFill>
                  <a:srgbClr val="434032"/>
                </a:solidFill>
                <a:latin typeface="Open Sans"/>
                <a:ea typeface="Open Sans"/>
                <a:cs typeface="Open Sans"/>
                <a:sym typeface="Open Sans"/>
              </a:rPr>
              <a:t> ⬇</a:t>
            </a:r>
          </a:p>
          <a:p>
            <a:pPr algn="ctr">
              <a:lnSpc>
                <a:spcPts val="3779"/>
              </a:lnSpc>
            </a:pPr>
            <a:r>
              <a:rPr lang="en-US" sz="2700">
                <a:solidFill>
                  <a:srgbClr val="434032"/>
                </a:solidFill>
                <a:latin typeface="Open Sans"/>
                <a:ea typeface="Open Sans"/>
                <a:cs typeface="Open Sans"/>
                <a:sym typeface="Open Sans"/>
              </a:rPr>
              <a:t>Recommended Action</a:t>
            </a:r>
          </a:p>
          <a:p>
            <a:pPr algn="ctr">
              <a:lnSpc>
                <a:spcPts val="3779"/>
              </a:lnSpc>
            </a:pPr>
            <a:r>
              <a:rPr lang="en-US" sz="2700">
                <a:solidFill>
                  <a:srgbClr val="434032"/>
                </a:solidFill>
                <a:latin typeface="Open Sans"/>
                <a:ea typeface="Open Sans"/>
                <a:cs typeface="Open Sans"/>
                <a:sym typeface="Open Sans"/>
              </a:rPr>
              <a:t> ⬇</a:t>
            </a:r>
          </a:p>
          <a:p>
            <a:pPr algn="ctr">
              <a:lnSpc>
                <a:spcPts val="3779"/>
              </a:lnSpc>
            </a:pPr>
            <a:r>
              <a:rPr lang="en-US" sz="2700">
                <a:solidFill>
                  <a:srgbClr val="434032"/>
                </a:solidFill>
                <a:latin typeface="Open Sans"/>
                <a:ea typeface="Open Sans"/>
                <a:cs typeface="Open Sans"/>
                <a:sym typeface="Open Sans"/>
              </a:rPr>
              <a:t>Dashboard Output</a:t>
            </a:r>
          </a:p>
        </p:txBody>
      </p:sp>
      <p:sp>
        <p:nvSpPr>
          <p:cNvPr name="TextBox 7" id="7"/>
          <p:cNvSpPr txBox="true"/>
          <p:nvPr/>
        </p:nvSpPr>
        <p:spPr>
          <a:xfrm rot="0">
            <a:off x="1250032" y="583359"/>
            <a:ext cx="3998119" cy="571500"/>
          </a:xfrm>
          <a:prstGeom prst="rect">
            <a:avLst/>
          </a:prstGeom>
        </p:spPr>
        <p:txBody>
          <a:bodyPr anchor="t" rtlCol="false" tIns="0" lIns="0" bIns="0" rIns="0">
            <a:spAutoFit/>
          </a:bodyPr>
          <a:lstStyle/>
          <a:p>
            <a:pPr algn="ctr">
              <a:lnSpc>
                <a:spcPts val="4200"/>
              </a:lnSpc>
            </a:pPr>
            <a:r>
              <a:rPr lang="en-US" sz="3000">
                <a:solidFill>
                  <a:srgbClr val="FFFFFF"/>
                </a:solidFill>
                <a:latin typeface="Open Sans"/>
                <a:ea typeface="Open Sans"/>
                <a:cs typeface="Open Sans"/>
                <a:sym typeface="Open Sans"/>
              </a:rPr>
              <a:t>Processing Flow</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7750" y="1323017"/>
            <a:ext cx="8524118" cy="3444152"/>
            <a:chOff x="0" y="0"/>
            <a:chExt cx="1942892" cy="785021"/>
          </a:xfrm>
        </p:grpSpPr>
        <p:sp>
          <p:nvSpPr>
            <p:cNvPr name="Freeform 3" id="3"/>
            <p:cNvSpPr/>
            <p:nvPr/>
          </p:nvSpPr>
          <p:spPr>
            <a:xfrm flipH="false" flipV="false" rot="0">
              <a:off x="0" y="0"/>
              <a:ext cx="1942891" cy="785021"/>
            </a:xfrm>
            <a:custGeom>
              <a:avLst/>
              <a:gdLst/>
              <a:ahLst/>
              <a:cxnLst/>
              <a:rect r="r" b="b" t="t" l="l"/>
              <a:pathLst>
                <a:path h="785021" w="1942891">
                  <a:moveTo>
                    <a:pt x="0" y="0"/>
                  </a:moveTo>
                  <a:lnTo>
                    <a:pt x="1942891" y="0"/>
                  </a:lnTo>
                  <a:lnTo>
                    <a:pt x="1942891" y="785021"/>
                  </a:lnTo>
                  <a:lnTo>
                    <a:pt x="0" y="785021"/>
                  </a:lnTo>
                  <a:close/>
                </a:path>
              </a:pathLst>
            </a:custGeom>
            <a:blipFill>
              <a:blip r:embed="rId2"/>
              <a:stretch>
                <a:fillRect l="0" t="-5012" r="-85433" b="-5012"/>
              </a:stretch>
            </a:blipFill>
          </p:spPr>
        </p:sp>
      </p:grpSp>
      <p:grpSp>
        <p:nvGrpSpPr>
          <p:cNvPr name="Group 4" id="4"/>
          <p:cNvGrpSpPr/>
          <p:nvPr/>
        </p:nvGrpSpPr>
        <p:grpSpPr>
          <a:xfrm rot="0">
            <a:off x="9470993" y="3203328"/>
            <a:ext cx="8524118" cy="1507977"/>
            <a:chOff x="0" y="0"/>
            <a:chExt cx="1905411" cy="337081"/>
          </a:xfrm>
        </p:grpSpPr>
        <p:sp>
          <p:nvSpPr>
            <p:cNvPr name="Freeform 5" id="5"/>
            <p:cNvSpPr/>
            <p:nvPr/>
          </p:nvSpPr>
          <p:spPr>
            <a:xfrm flipH="false" flipV="false" rot="0">
              <a:off x="0" y="0"/>
              <a:ext cx="1905411" cy="337081"/>
            </a:xfrm>
            <a:custGeom>
              <a:avLst/>
              <a:gdLst/>
              <a:ahLst/>
              <a:cxnLst/>
              <a:rect r="r" b="b" t="t" l="l"/>
              <a:pathLst>
                <a:path h="337081" w="1905411">
                  <a:moveTo>
                    <a:pt x="0" y="0"/>
                  </a:moveTo>
                  <a:lnTo>
                    <a:pt x="1905411" y="0"/>
                  </a:lnTo>
                  <a:lnTo>
                    <a:pt x="1905411" y="337081"/>
                  </a:lnTo>
                  <a:lnTo>
                    <a:pt x="0" y="337081"/>
                  </a:lnTo>
                  <a:close/>
                </a:path>
              </a:pathLst>
            </a:custGeom>
            <a:blipFill>
              <a:blip r:embed="rId3"/>
              <a:stretch>
                <a:fillRect l="0" t="-135783" r="-51308" b="-21678"/>
              </a:stretch>
            </a:blipFill>
          </p:spPr>
        </p:sp>
      </p:grpSp>
      <p:grpSp>
        <p:nvGrpSpPr>
          <p:cNvPr name="Group 6" id="6"/>
          <p:cNvGrpSpPr/>
          <p:nvPr/>
        </p:nvGrpSpPr>
        <p:grpSpPr>
          <a:xfrm rot="0">
            <a:off x="337750" y="5473996"/>
            <a:ext cx="8524118" cy="1644914"/>
            <a:chOff x="0" y="0"/>
            <a:chExt cx="1930081" cy="372451"/>
          </a:xfrm>
        </p:grpSpPr>
        <p:sp>
          <p:nvSpPr>
            <p:cNvPr name="Freeform 7" id="7"/>
            <p:cNvSpPr/>
            <p:nvPr/>
          </p:nvSpPr>
          <p:spPr>
            <a:xfrm flipH="false" flipV="false" rot="0">
              <a:off x="0" y="0"/>
              <a:ext cx="1930081" cy="372451"/>
            </a:xfrm>
            <a:custGeom>
              <a:avLst/>
              <a:gdLst/>
              <a:ahLst/>
              <a:cxnLst/>
              <a:rect r="r" b="b" t="t" l="l"/>
              <a:pathLst>
                <a:path h="372451" w="1930081">
                  <a:moveTo>
                    <a:pt x="0" y="0"/>
                  </a:moveTo>
                  <a:lnTo>
                    <a:pt x="1930081" y="0"/>
                  </a:lnTo>
                  <a:lnTo>
                    <a:pt x="1930081" y="372451"/>
                  </a:lnTo>
                  <a:lnTo>
                    <a:pt x="0" y="372451"/>
                  </a:lnTo>
                  <a:close/>
                </a:path>
              </a:pathLst>
            </a:custGeom>
            <a:blipFill>
              <a:blip r:embed="rId4"/>
              <a:stretch>
                <a:fillRect l="-107732" t="-809" r="0" b="-147924"/>
              </a:stretch>
            </a:blipFill>
          </p:spPr>
        </p:sp>
      </p:grpSp>
      <p:grpSp>
        <p:nvGrpSpPr>
          <p:cNvPr name="Group 8" id="8"/>
          <p:cNvGrpSpPr/>
          <p:nvPr/>
        </p:nvGrpSpPr>
        <p:grpSpPr>
          <a:xfrm rot="0">
            <a:off x="9470993" y="5473996"/>
            <a:ext cx="8524118" cy="3388288"/>
            <a:chOff x="0" y="0"/>
            <a:chExt cx="1905411" cy="757390"/>
          </a:xfrm>
        </p:grpSpPr>
        <p:sp>
          <p:nvSpPr>
            <p:cNvPr name="Freeform 9" id="9"/>
            <p:cNvSpPr/>
            <p:nvPr/>
          </p:nvSpPr>
          <p:spPr>
            <a:xfrm flipH="false" flipV="false" rot="0">
              <a:off x="0" y="0"/>
              <a:ext cx="1905411" cy="757390"/>
            </a:xfrm>
            <a:custGeom>
              <a:avLst/>
              <a:gdLst/>
              <a:ahLst/>
              <a:cxnLst/>
              <a:rect r="r" b="b" t="t" l="l"/>
              <a:pathLst>
                <a:path h="757390" w="1905411">
                  <a:moveTo>
                    <a:pt x="0" y="0"/>
                  </a:moveTo>
                  <a:lnTo>
                    <a:pt x="1905411" y="0"/>
                  </a:lnTo>
                  <a:lnTo>
                    <a:pt x="1905411" y="757390"/>
                  </a:lnTo>
                  <a:lnTo>
                    <a:pt x="0" y="757390"/>
                  </a:lnTo>
                  <a:close/>
                </a:path>
              </a:pathLst>
            </a:custGeom>
            <a:blipFill>
              <a:blip r:embed="rId5"/>
              <a:stretch>
                <a:fillRect l="0" t="-1541" r="-22742" b="-1541"/>
              </a:stretch>
            </a:blipFill>
          </p:spPr>
        </p:sp>
      </p:grpSp>
      <p:grpSp>
        <p:nvGrpSpPr>
          <p:cNvPr name="Group 10" id="10"/>
          <p:cNvGrpSpPr/>
          <p:nvPr/>
        </p:nvGrpSpPr>
        <p:grpSpPr>
          <a:xfrm rot="0">
            <a:off x="337750" y="7168139"/>
            <a:ext cx="8524118" cy="1694144"/>
            <a:chOff x="0" y="0"/>
            <a:chExt cx="1905411" cy="378695"/>
          </a:xfrm>
        </p:grpSpPr>
        <p:sp>
          <p:nvSpPr>
            <p:cNvPr name="Freeform 11" id="11"/>
            <p:cNvSpPr/>
            <p:nvPr/>
          </p:nvSpPr>
          <p:spPr>
            <a:xfrm flipH="false" flipV="false" rot="0">
              <a:off x="0" y="0"/>
              <a:ext cx="1905411" cy="378695"/>
            </a:xfrm>
            <a:custGeom>
              <a:avLst/>
              <a:gdLst/>
              <a:ahLst/>
              <a:cxnLst/>
              <a:rect r="r" b="b" t="t" l="l"/>
              <a:pathLst>
                <a:path h="378695" w="1905411">
                  <a:moveTo>
                    <a:pt x="0" y="0"/>
                  </a:moveTo>
                  <a:lnTo>
                    <a:pt x="1905411" y="0"/>
                  </a:lnTo>
                  <a:lnTo>
                    <a:pt x="1905411" y="378695"/>
                  </a:lnTo>
                  <a:lnTo>
                    <a:pt x="0" y="378695"/>
                  </a:lnTo>
                  <a:close/>
                </a:path>
              </a:pathLst>
            </a:custGeom>
            <a:blipFill>
              <a:blip r:embed="rId4"/>
              <a:stretch>
                <a:fillRect l="0" t="-91083" r="-82454" b="-21035"/>
              </a:stretch>
            </a:blipFill>
          </p:spPr>
        </p:sp>
      </p:grpSp>
      <p:grpSp>
        <p:nvGrpSpPr>
          <p:cNvPr name="Group 12" id="12"/>
          <p:cNvGrpSpPr/>
          <p:nvPr/>
        </p:nvGrpSpPr>
        <p:grpSpPr>
          <a:xfrm rot="0">
            <a:off x="9468154" y="1323017"/>
            <a:ext cx="8524118" cy="1880310"/>
            <a:chOff x="0" y="0"/>
            <a:chExt cx="1905411" cy="420309"/>
          </a:xfrm>
        </p:grpSpPr>
        <p:sp>
          <p:nvSpPr>
            <p:cNvPr name="Freeform 13" id="13"/>
            <p:cNvSpPr/>
            <p:nvPr/>
          </p:nvSpPr>
          <p:spPr>
            <a:xfrm flipH="false" flipV="false" rot="0">
              <a:off x="0" y="0"/>
              <a:ext cx="1905411" cy="420309"/>
            </a:xfrm>
            <a:custGeom>
              <a:avLst/>
              <a:gdLst/>
              <a:ahLst/>
              <a:cxnLst/>
              <a:rect r="r" b="b" t="t" l="l"/>
              <a:pathLst>
                <a:path h="420309" w="1905411">
                  <a:moveTo>
                    <a:pt x="0" y="0"/>
                  </a:moveTo>
                  <a:lnTo>
                    <a:pt x="1905411" y="0"/>
                  </a:lnTo>
                  <a:lnTo>
                    <a:pt x="1905411" y="420309"/>
                  </a:lnTo>
                  <a:lnTo>
                    <a:pt x="0" y="420309"/>
                  </a:lnTo>
                  <a:close/>
                </a:path>
              </a:pathLst>
            </a:custGeom>
            <a:blipFill>
              <a:blip r:embed="rId6"/>
              <a:stretch>
                <a:fillRect l="-127245" t="-122" r="0" b="-122"/>
              </a:stretch>
            </a:blipFill>
          </p:spPr>
        </p:sp>
      </p:grpSp>
      <p:sp>
        <p:nvSpPr>
          <p:cNvPr name="TextBox 14" id="14"/>
          <p:cNvSpPr txBox="true"/>
          <p:nvPr/>
        </p:nvSpPr>
        <p:spPr>
          <a:xfrm rot="0">
            <a:off x="4256344" y="41716"/>
            <a:ext cx="9775312" cy="986984"/>
          </a:xfrm>
          <a:prstGeom prst="rect">
            <a:avLst/>
          </a:prstGeom>
        </p:spPr>
        <p:txBody>
          <a:bodyPr anchor="t" rtlCol="false" tIns="0" lIns="0" bIns="0" rIns="0">
            <a:spAutoFit/>
          </a:bodyPr>
          <a:lstStyle/>
          <a:p>
            <a:pPr algn="l">
              <a:lnSpc>
                <a:spcPts val="7748"/>
              </a:lnSpc>
            </a:pPr>
            <a:r>
              <a:rPr lang="en-US" sz="5534">
                <a:solidFill>
                  <a:srgbClr val="000000"/>
                </a:solidFill>
                <a:latin typeface="Poppins"/>
                <a:ea typeface="Poppins"/>
                <a:cs typeface="Poppins"/>
                <a:sym typeface="Poppins"/>
              </a:rPr>
              <a:t>Smart Campus D</a:t>
            </a:r>
            <a:r>
              <a:rPr lang="en-US" sz="5534">
                <a:solidFill>
                  <a:srgbClr val="000000"/>
                </a:solidFill>
                <a:latin typeface="Poppins"/>
                <a:ea typeface="Poppins"/>
                <a:cs typeface="Poppins"/>
                <a:sym typeface="Poppins"/>
              </a:rPr>
              <a:t>ashboard</a:t>
            </a:r>
          </a:p>
        </p:txBody>
      </p:sp>
      <p:sp>
        <p:nvSpPr>
          <p:cNvPr name="TextBox 15" id="15"/>
          <p:cNvSpPr txBox="true"/>
          <p:nvPr/>
        </p:nvSpPr>
        <p:spPr>
          <a:xfrm rot="-5400000">
            <a:off x="9016134" y="2950817"/>
            <a:ext cx="316468" cy="505022"/>
          </a:xfrm>
          <a:prstGeom prst="rect">
            <a:avLst/>
          </a:prstGeom>
        </p:spPr>
        <p:txBody>
          <a:bodyPr anchor="t" rtlCol="false" tIns="0" lIns="0" bIns="0" rIns="0">
            <a:spAutoFit/>
          </a:bodyPr>
          <a:lstStyle/>
          <a:p>
            <a:pPr algn="ctr">
              <a:lnSpc>
                <a:spcPts val="4189"/>
              </a:lnSpc>
              <a:spcBef>
                <a:spcPct val="0"/>
              </a:spcBef>
            </a:pPr>
            <a:r>
              <a:rPr lang="en-US" sz="2992">
                <a:solidFill>
                  <a:srgbClr val="000000"/>
                </a:solidFill>
                <a:latin typeface="Open Sans"/>
                <a:ea typeface="Open Sans"/>
                <a:cs typeface="Open Sans"/>
                <a:sym typeface="Open Sans"/>
              </a:rPr>
              <a:t>⬇</a:t>
            </a:r>
          </a:p>
        </p:txBody>
      </p:sp>
      <p:sp>
        <p:nvSpPr>
          <p:cNvPr name="TextBox 16" id="16"/>
          <p:cNvSpPr txBox="true"/>
          <p:nvPr/>
        </p:nvSpPr>
        <p:spPr>
          <a:xfrm rot="0">
            <a:off x="13656809" y="4848077"/>
            <a:ext cx="374847" cy="505022"/>
          </a:xfrm>
          <a:prstGeom prst="rect">
            <a:avLst/>
          </a:prstGeom>
        </p:spPr>
        <p:txBody>
          <a:bodyPr anchor="t" rtlCol="false" tIns="0" lIns="0" bIns="0" rIns="0">
            <a:spAutoFit/>
          </a:bodyPr>
          <a:lstStyle/>
          <a:p>
            <a:pPr algn="ctr">
              <a:lnSpc>
                <a:spcPts val="4189"/>
              </a:lnSpc>
              <a:spcBef>
                <a:spcPct val="0"/>
              </a:spcBef>
            </a:pPr>
            <a:r>
              <a:rPr lang="en-US" sz="2992">
                <a:solidFill>
                  <a:srgbClr val="000000"/>
                </a:solidFill>
                <a:latin typeface="Open Sans"/>
                <a:ea typeface="Open Sans"/>
                <a:cs typeface="Open Sans"/>
                <a:sym typeface="Open Sans"/>
              </a:rPr>
              <a:t>⬇</a:t>
            </a:r>
          </a:p>
        </p:txBody>
      </p:sp>
      <p:sp>
        <p:nvSpPr>
          <p:cNvPr name="TextBox 17" id="17"/>
          <p:cNvSpPr txBox="true"/>
          <p:nvPr/>
        </p:nvSpPr>
        <p:spPr>
          <a:xfrm rot="5400000">
            <a:off x="8948639" y="6866398"/>
            <a:ext cx="374847" cy="505022"/>
          </a:xfrm>
          <a:prstGeom prst="rect">
            <a:avLst/>
          </a:prstGeom>
        </p:spPr>
        <p:txBody>
          <a:bodyPr anchor="t" rtlCol="false" tIns="0" lIns="0" bIns="0" rIns="0">
            <a:spAutoFit/>
          </a:bodyPr>
          <a:lstStyle/>
          <a:p>
            <a:pPr algn="ctr">
              <a:lnSpc>
                <a:spcPts val="4189"/>
              </a:lnSpc>
              <a:spcBef>
                <a:spcPct val="0"/>
              </a:spcBef>
            </a:pPr>
            <a:r>
              <a:rPr lang="en-US" sz="2992">
                <a:solidFill>
                  <a:srgbClr val="000000"/>
                </a:solidFill>
                <a:latin typeface="Open Sans"/>
                <a:ea typeface="Open Sans"/>
                <a:cs typeface="Open Sans"/>
                <a:sym typeface="Open Sans"/>
              </a:rPr>
              <a:t>⬇</a:t>
            </a:r>
          </a:p>
        </p:txBody>
      </p:sp>
      <p:sp>
        <p:nvSpPr>
          <p:cNvPr name="TextBox 18" id="18"/>
          <p:cNvSpPr txBox="true"/>
          <p:nvPr/>
        </p:nvSpPr>
        <p:spPr>
          <a:xfrm rot="0">
            <a:off x="752024" y="9175652"/>
            <a:ext cx="16363700" cy="860622"/>
          </a:xfrm>
          <a:prstGeom prst="rect">
            <a:avLst/>
          </a:prstGeom>
        </p:spPr>
        <p:txBody>
          <a:bodyPr anchor="t" rtlCol="false" tIns="0" lIns="0" bIns="0" rIns="0">
            <a:spAutoFit/>
          </a:bodyPr>
          <a:lstStyle/>
          <a:p>
            <a:pPr algn="ctr">
              <a:lnSpc>
                <a:spcPts val="3489"/>
              </a:lnSpc>
              <a:spcBef>
                <a:spcPct val="0"/>
              </a:spcBef>
            </a:pPr>
            <a:r>
              <a:rPr lang="en-US" sz="2492">
                <a:solidFill>
                  <a:srgbClr val="000000"/>
                </a:solidFill>
                <a:latin typeface="Open Sans"/>
                <a:ea typeface="Open Sans"/>
                <a:cs typeface="Open Sans"/>
                <a:sym typeface="Open Sans"/>
              </a:rPr>
              <a:t>The dashboard allows users to enter campus conditions, predict the risk level using the trained ML model, and view the resulting warning and recommended action in a clear and simple interface.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80823"/>
            <a:ext cx="4992834" cy="10467823"/>
          </a:xfrm>
          <a:custGeom>
            <a:avLst/>
            <a:gdLst/>
            <a:ahLst/>
            <a:cxnLst/>
            <a:rect r="r" b="b" t="t" l="l"/>
            <a:pathLst>
              <a:path h="10467823" w="4992834">
                <a:moveTo>
                  <a:pt x="0" y="0"/>
                </a:moveTo>
                <a:lnTo>
                  <a:pt x="4992834" y="0"/>
                </a:lnTo>
                <a:lnTo>
                  <a:pt x="4992834" y="10467823"/>
                </a:lnTo>
                <a:lnTo>
                  <a:pt x="0" y="10467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1028700"/>
            <a:ext cx="6546371" cy="8229600"/>
            <a:chOff x="0" y="0"/>
            <a:chExt cx="8728494" cy="10972800"/>
          </a:xfrm>
        </p:grpSpPr>
        <p:sp>
          <p:nvSpPr>
            <p:cNvPr name="Freeform 4" id="4"/>
            <p:cNvSpPr/>
            <p:nvPr/>
          </p:nvSpPr>
          <p:spPr>
            <a:xfrm flipH="false" flipV="false" rot="0">
              <a:off x="0" y="0"/>
              <a:ext cx="8728456" cy="10972800"/>
            </a:xfrm>
            <a:custGeom>
              <a:avLst/>
              <a:gdLst/>
              <a:ahLst/>
              <a:cxnLst/>
              <a:rect r="r" b="b" t="t" l="l"/>
              <a:pathLst>
                <a:path h="10972800" w="8728456">
                  <a:moveTo>
                    <a:pt x="0" y="0"/>
                  </a:moveTo>
                  <a:lnTo>
                    <a:pt x="8728456" y="0"/>
                  </a:lnTo>
                  <a:lnTo>
                    <a:pt x="8728456" y="10972800"/>
                  </a:lnTo>
                  <a:lnTo>
                    <a:pt x="0" y="10972800"/>
                  </a:lnTo>
                  <a:close/>
                </a:path>
              </a:pathLst>
            </a:custGeom>
            <a:blipFill>
              <a:blip r:embed="rId4"/>
              <a:stretch>
                <a:fillRect l="0" t="-8110" r="0" b="-8110"/>
              </a:stretch>
            </a:blipFill>
          </p:spPr>
        </p:sp>
      </p:grpSp>
      <p:sp>
        <p:nvSpPr>
          <p:cNvPr name="TextBox 5" id="5"/>
          <p:cNvSpPr txBox="true"/>
          <p:nvPr/>
        </p:nvSpPr>
        <p:spPr>
          <a:xfrm rot="0">
            <a:off x="8431816" y="685800"/>
            <a:ext cx="7300293" cy="1297295"/>
          </a:xfrm>
          <a:prstGeom prst="rect">
            <a:avLst/>
          </a:prstGeom>
        </p:spPr>
        <p:txBody>
          <a:bodyPr anchor="t" rtlCol="false" tIns="0" lIns="0" bIns="0" rIns="0">
            <a:spAutoFit/>
          </a:bodyPr>
          <a:lstStyle/>
          <a:p>
            <a:pPr algn="l">
              <a:lnSpc>
                <a:spcPts val="8819"/>
              </a:lnSpc>
            </a:pPr>
            <a:r>
              <a:rPr lang="en-US" sz="6300">
                <a:solidFill>
                  <a:srgbClr val="000000"/>
                </a:solidFill>
                <a:latin typeface="Poppins"/>
                <a:ea typeface="Poppins"/>
                <a:cs typeface="Poppins"/>
                <a:sym typeface="Poppins"/>
              </a:rPr>
              <a:t>💡 Benefits</a:t>
            </a:r>
          </a:p>
        </p:txBody>
      </p:sp>
      <p:sp>
        <p:nvSpPr>
          <p:cNvPr name="TextBox 6" id="6"/>
          <p:cNvSpPr txBox="true"/>
          <p:nvPr/>
        </p:nvSpPr>
        <p:spPr>
          <a:xfrm rot="0">
            <a:off x="8305733" y="2851442"/>
            <a:ext cx="9513961" cy="4922320"/>
          </a:xfrm>
          <a:prstGeom prst="rect">
            <a:avLst/>
          </a:prstGeom>
        </p:spPr>
        <p:txBody>
          <a:bodyPr anchor="t" rtlCol="false" tIns="0" lIns="0" bIns="0" rIns="0">
            <a:spAutoFit/>
          </a:bodyPr>
          <a:lstStyle/>
          <a:p>
            <a:pPr algn="l" marL="704627" indent="-234876" lvl="2">
              <a:lnSpc>
                <a:spcPts val="4314"/>
              </a:lnSpc>
              <a:buFont typeface="Arial"/>
              <a:buChar char="⚬"/>
            </a:pPr>
            <a:r>
              <a:rPr lang="en-US" sz="3081">
                <a:solidFill>
                  <a:srgbClr val="434032"/>
                </a:solidFill>
                <a:latin typeface="Open Sans"/>
                <a:ea typeface="Open Sans"/>
                <a:cs typeface="Open Sans"/>
                <a:sym typeface="Open Sans"/>
              </a:rPr>
              <a:t>Early identification of potential risks.</a:t>
            </a:r>
          </a:p>
          <a:p>
            <a:pPr algn="l" marL="704627" indent="-234876" lvl="2">
              <a:lnSpc>
                <a:spcPts val="4314"/>
              </a:lnSpc>
              <a:buFont typeface="Arial"/>
              <a:buChar char="⚬"/>
            </a:pPr>
            <a:r>
              <a:rPr lang="en-US" sz="3081">
                <a:solidFill>
                  <a:srgbClr val="434032"/>
                </a:solidFill>
                <a:latin typeface="Open Sans"/>
                <a:ea typeface="Open Sans"/>
                <a:cs typeface="Open Sans"/>
                <a:sym typeface="Open Sans"/>
              </a:rPr>
              <a:t>Data-driven decision-making.</a:t>
            </a:r>
          </a:p>
          <a:p>
            <a:pPr algn="l" marL="704627" indent="-234876" lvl="2">
              <a:lnSpc>
                <a:spcPts val="4314"/>
              </a:lnSpc>
              <a:buFont typeface="Arial"/>
              <a:buChar char="⚬"/>
            </a:pPr>
            <a:r>
              <a:rPr lang="en-US" sz="3081">
                <a:solidFill>
                  <a:srgbClr val="434032"/>
                </a:solidFill>
                <a:latin typeface="Open Sans"/>
                <a:ea typeface="Open Sans"/>
                <a:cs typeface="Open Sans"/>
                <a:sym typeface="Open Sans"/>
              </a:rPr>
              <a:t>Helps management prioritize interventions.</a:t>
            </a:r>
          </a:p>
          <a:p>
            <a:pPr algn="l" marL="704627" indent="-234876" lvl="2">
              <a:lnSpc>
                <a:spcPts val="4314"/>
              </a:lnSpc>
              <a:buFont typeface="Arial"/>
              <a:buChar char="⚬"/>
            </a:pPr>
            <a:r>
              <a:rPr lang="en-US" sz="3081">
                <a:solidFill>
                  <a:srgbClr val="434032"/>
                </a:solidFill>
                <a:latin typeface="Open Sans"/>
                <a:ea typeface="Open Sans"/>
                <a:cs typeface="Open Sans"/>
                <a:sym typeface="Open Sans"/>
              </a:rPr>
              <a:t>Combines student, campus, and environmental information.</a:t>
            </a:r>
          </a:p>
          <a:p>
            <a:pPr algn="l" marL="704627" indent="-234876" lvl="2">
              <a:lnSpc>
                <a:spcPts val="4314"/>
              </a:lnSpc>
              <a:buFont typeface="Arial"/>
              <a:buChar char="⚬"/>
            </a:pPr>
            <a:r>
              <a:rPr lang="en-US" sz="3081">
                <a:solidFill>
                  <a:srgbClr val="434032"/>
                </a:solidFill>
                <a:latin typeface="Open Sans"/>
                <a:ea typeface="Open Sans"/>
                <a:cs typeface="Open Sans"/>
                <a:sym typeface="Open Sans"/>
              </a:rPr>
              <a:t>Provides visual insights through charts.</a:t>
            </a:r>
          </a:p>
          <a:p>
            <a:pPr algn="l" marL="704627" indent="-234876" lvl="2">
              <a:lnSpc>
                <a:spcPts val="4314"/>
              </a:lnSpc>
              <a:buFont typeface="Arial"/>
              <a:buChar char="⚬"/>
            </a:pPr>
            <a:r>
              <a:rPr lang="en-US" sz="3081">
                <a:solidFill>
                  <a:srgbClr val="434032"/>
                </a:solidFill>
                <a:latin typeface="Open Sans"/>
                <a:ea typeface="Open Sans"/>
                <a:cs typeface="Open Sans"/>
                <a:sym typeface="Open Sans"/>
              </a:rPr>
              <a:t>Can be extended to real-time campus monitoring.</a:t>
            </a:r>
          </a:p>
          <a:p>
            <a:pPr algn="l" marL="704627" indent="-234876" lvl="2">
              <a:lnSpc>
                <a:spcPts val="4314"/>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730418" y="-180823"/>
            <a:ext cx="6557582" cy="10467823"/>
          </a:xfrm>
          <a:custGeom>
            <a:avLst/>
            <a:gdLst/>
            <a:ahLst/>
            <a:cxnLst/>
            <a:rect r="r" b="b" t="t" l="l"/>
            <a:pathLst>
              <a:path h="10467823" w="6557582">
                <a:moveTo>
                  <a:pt x="0" y="0"/>
                </a:moveTo>
                <a:lnTo>
                  <a:pt x="6557582" y="0"/>
                </a:lnTo>
                <a:lnTo>
                  <a:pt x="6557582" y="10467823"/>
                </a:lnTo>
                <a:lnTo>
                  <a:pt x="0" y="10467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730418" y="0"/>
            <a:ext cx="6557582" cy="10287000"/>
          </a:xfrm>
          <a:custGeom>
            <a:avLst/>
            <a:gdLst/>
            <a:ahLst/>
            <a:cxnLst/>
            <a:rect r="r" b="b" t="t" l="l"/>
            <a:pathLst>
              <a:path h="10287000" w="6557582">
                <a:moveTo>
                  <a:pt x="0" y="0"/>
                </a:moveTo>
                <a:lnTo>
                  <a:pt x="6557582" y="0"/>
                </a:lnTo>
                <a:lnTo>
                  <a:pt x="6557582" y="10287000"/>
                </a:lnTo>
                <a:lnTo>
                  <a:pt x="0" y="10287000"/>
                </a:lnTo>
                <a:lnTo>
                  <a:pt x="0" y="0"/>
                </a:lnTo>
                <a:close/>
              </a:path>
            </a:pathLst>
          </a:custGeom>
          <a:blipFill>
            <a:blip r:embed="rId4"/>
            <a:stretch>
              <a:fillRect l="-292" t="0" r="-2466" b="-2265"/>
            </a:stretch>
          </a:blipFill>
        </p:spPr>
      </p:sp>
      <p:sp>
        <p:nvSpPr>
          <p:cNvPr name="TextBox 4" id="4"/>
          <p:cNvSpPr txBox="true"/>
          <p:nvPr/>
        </p:nvSpPr>
        <p:spPr>
          <a:xfrm rot="0">
            <a:off x="1459828" y="457434"/>
            <a:ext cx="8796093" cy="2736273"/>
          </a:xfrm>
          <a:prstGeom prst="rect">
            <a:avLst/>
          </a:prstGeom>
        </p:spPr>
        <p:txBody>
          <a:bodyPr anchor="t" rtlCol="false" tIns="0" lIns="0" bIns="0" rIns="0">
            <a:spAutoFit/>
          </a:bodyPr>
          <a:lstStyle/>
          <a:p>
            <a:pPr algn="l">
              <a:lnSpc>
                <a:spcPts val="18469"/>
              </a:lnSpc>
            </a:pPr>
            <a:r>
              <a:rPr lang="en-US" b="true" sz="13192">
                <a:solidFill>
                  <a:srgbClr val="000000"/>
                </a:solidFill>
                <a:latin typeface="Poppins Bold"/>
                <a:ea typeface="Poppins Bold"/>
                <a:cs typeface="Poppins Bold"/>
                <a:sym typeface="Poppins Bold"/>
              </a:rPr>
              <a:t>Final Goal</a:t>
            </a:r>
          </a:p>
        </p:txBody>
      </p:sp>
      <p:sp>
        <p:nvSpPr>
          <p:cNvPr name="TextBox 5" id="5"/>
          <p:cNvSpPr txBox="true"/>
          <p:nvPr/>
        </p:nvSpPr>
        <p:spPr>
          <a:xfrm rot="0">
            <a:off x="1138491" y="3533628"/>
            <a:ext cx="9438768" cy="4049865"/>
          </a:xfrm>
          <a:prstGeom prst="rect">
            <a:avLst/>
          </a:prstGeom>
        </p:spPr>
        <p:txBody>
          <a:bodyPr anchor="t" rtlCol="false" tIns="0" lIns="0" bIns="0" rIns="0">
            <a:spAutoFit/>
          </a:bodyPr>
          <a:lstStyle/>
          <a:p>
            <a:pPr algn="l">
              <a:lnSpc>
                <a:spcPts val="4629"/>
              </a:lnSpc>
            </a:pPr>
            <a:r>
              <a:rPr lang="en-US" sz="3306">
                <a:solidFill>
                  <a:srgbClr val="434032"/>
                </a:solidFill>
                <a:latin typeface="Open Sans"/>
                <a:ea typeface="Open Sans"/>
                <a:cs typeface="Open Sans"/>
                <a:sym typeface="Open Sans"/>
              </a:rPr>
              <a:t>The main goal of this project is to help campus management identify potential problems before they become serious. Instead of waiting for an incident to occur, the system analyzes campus data, predicts the risk level, generates an early warning, and recommends preventive action.</a:t>
            </a:r>
          </a:p>
          <a:p>
            <a:pPr algn="l">
              <a:lnSpc>
                <a:spcPts val="4629"/>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26769" y="0"/>
            <a:ext cx="3086100" cy="10287000"/>
            <a:chOff x="0" y="0"/>
            <a:chExt cx="812800" cy="2709333"/>
          </a:xfrm>
        </p:grpSpPr>
        <p:sp>
          <p:nvSpPr>
            <p:cNvPr name="Freeform 3" id="3"/>
            <p:cNvSpPr/>
            <p:nvPr/>
          </p:nvSpPr>
          <p:spPr>
            <a:xfrm flipH="false" flipV="false" rot="0">
              <a:off x="0" y="0"/>
              <a:ext cx="812800" cy="2709333"/>
            </a:xfrm>
            <a:custGeom>
              <a:avLst/>
              <a:gdLst/>
              <a:ahLst/>
              <a:cxnLst/>
              <a:rect r="r" b="b" t="t" l="l"/>
              <a:pathLst>
                <a:path h="2709333" w="812800">
                  <a:moveTo>
                    <a:pt x="0" y="0"/>
                  </a:moveTo>
                  <a:lnTo>
                    <a:pt x="812800" y="0"/>
                  </a:lnTo>
                  <a:lnTo>
                    <a:pt x="812800" y="2709333"/>
                  </a:lnTo>
                  <a:lnTo>
                    <a:pt x="0" y="2709333"/>
                  </a:lnTo>
                  <a:close/>
                </a:path>
              </a:pathLst>
            </a:custGeom>
            <a:solidFill>
              <a:srgbClr val="005AFF"/>
            </a:solidFill>
          </p:spPr>
        </p:sp>
        <p:sp>
          <p:nvSpPr>
            <p:cNvPr name="TextBox 4" id="4"/>
            <p:cNvSpPr txBox="true"/>
            <p:nvPr/>
          </p:nvSpPr>
          <p:spPr>
            <a:xfrm>
              <a:off x="0" y="-47625"/>
              <a:ext cx="812800" cy="2756958"/>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0" y="0"/>
            <a:ext cx="7134025" cy="9258300"/>
            <a:chOff x="0" y="0"/>
            <a:chExt cx="1105247" cy="1434353"/>
          </a:xfrm>
        </p:grpSpPr>
        <p:sp>
          <p:nvSpPr>
            <p:cNvPr name="Freeform 6" id="6"/>
            <p:cNvSpPr/>
            <p:nvPr/>
          </p:nvSpPr>
          <p:spPr>
            <a:xfrm flipH="false" flipV="false" rot="0">
              <a:off x="0" y="0"/>
              <a:ext cx="1105247" cy="1434353"/>
            </a:xfrm>
            <a:custGeom>
              <a:avLst/>
              <a:gdLst/>
              <a:ahLst/>
              <a:cxnLst/>
              <a:rect r="r" b="b" t="t" l="l"/>
              <a:pathLst>
                <a:path h="1434353" w="1105247">
                  <a:moveTo>
                    <a:pt x="0" y="0"/>
                  </a:moveTo>
                  <a:lnTo>
                    <a:pt x="1105247" y="0"/>
                  </a:lnTo>
                  <a:lnTo>
                    <a:pt x="1105247" y="1434353"/>
                  </a:lnTo>
                  <a:lnTo>
                    <a:pt x="0" y="1434353"/>
                  </a:lnTo>
                  <a:close/>
                </a:path>
              </a:pathLst>
            </a:custGeom>
            <a:blipFill>
              <a:blip r:embed="rId2"/>
              <a:stretch>
                <a:fillRect l="-14888" t="0" r="-14888" b="0"/>
              </a:stretch>
            </a:blipFill>
          </p:spPr>
        </p:sp>
      </p:grpSp>
      <p:sp>
        <p:nvSpPr>
          <p:cNvPr name="TextBox 7" id="7"/>
          <p:cNvSpPr txBox="true"/>
          <p:nvPr/>
        </p:nvSpPr>
        <p:spPr>
          <a:xfrm rot="0">
            <a:off x="9841039" y="380053"/>
            <a:ext cx="5243738" cy="1125845"/>
          </a:xfrm>
          <a:prstGeom prst="rect">
            <a:avLst/>
          </a:prstGeom>
        </p:spPr>
        <p:txBody>
          <a:bodyPr anchor="t" rtlCol="false" tIns="0" lIns="0" bIns="0" rIns="0">
            <a:spAutoFit/>
          </a:bodyPr>
          <a:lstStyle/>
          <a:p>
            <a:pPr algn="l">
              <a:lnSpc>
                <a:spcPts val="8820"/>
              </a:lnSpc>
            </a:pPr>
            <a:r>
              <a:rPr lang="en-US" sz="6300">
                <a:solidFill>
                  <a:srgbClr val="434032"/>
                </a:solidFill>
                <a:latin typeface="Poppins"/>
                <a:ea typeface="Poppins"/>
                <a:cs typeface="Poppins"/>
                <a:sym typeface="Poppins"/>
              </a:rPr>
              <a:t>F</a:t>
            </a:r>
            <a:r>
              <a:rPr lang="en-US" sz="6300">
                <a:solidFill>
                  <a:srgbClr val="434032"/>
                </a:solidFill>
                <a:latin typeface="Poppins"/>
                <a:ea typeface="Poppins"/>
                <a:cs typeface="Poppins"/>
                <a:sym typeface="Poppins"/>
              </a:rPr>
              <a:t>uture Scope</a:t>
            </a:r>
          </a:p>
        </p:txBody>
      </p:sp>
      <p:sp>
        <p:nvSpPr>
          <p:cNvPr name="TextBox 8" id="8"/>
          <p:cNvSpPr txBox="true"/>
          <p:nvPr/>
        </p:nvSpPr>
        <p:spPr>
          <a:xfrm rot="0">
            <a:off x="8672916" y="2080593"/>
            <a:ext cx="8759438" cy="5030439"/>
          </a:xfrm>
          <a:prstGeom prst="rect">
            <a:avLst/>
          </a:prstGeom>
        </p:spPr>
        <p:txBody>
          <a:bodyPr anchor="t" rtlCol="false" tIns="0" lIns="0" bIns="0" rIns="0">
            <a:spAutoFit/>
          </a:bodyPr>
          <a:lstStyle/>
          <a:p>
            <a:pPr algn="l" marL="686758" indent="-343379" lvl="1">
              <a:lnSpc>
                <a:spcPts val="4453"/>
              </a:lnSpc>
              <a:buFont typeface="Arial"/>
              <a:buChar char="•"/>
            </a:pPr>
            <a:r>
              <a:rPr lang="en-US" sz="3180">
                <a:solidFill>
                  <a:srgbClr val="434032"/>
                </a:solidFill>
                <a:latin typeface="Open Sans"/>
                <a:ea typeface="Open Sans"/>
                <a:cs typeface="Open Sans"/>
                <a:sym typeface="Open Sans"/>
              </a:rPr>
              <a:t>📡</a:t>
            </a:r>
            <a:r>
              <a:rPr lang="en-US" sz="3180">
                <a:solidFill>
                  <a:srgbClr val="434032"/>
                </a:solidFill>
                <a:latin typeface="Open Sans"/>
                <a:ea typeface="Open Sans"/>
                <a:cs typeface="Open Sans"/>
                <a:sym typeface="Open Sans"/>
              </a:rPr>
              <a:t> IoT sensor integration</a:t>
            </a:r>
          </a:p>
          <a:p>
            <a:pPr algn="l" marL="686758" indent="-343379" lvl="1">
              <a:lnSpc>
                <a:spcPts val="4453"/>
              </a:lnSpc>
              <a:buFont typeface="Arial"/>
              <a:buChar char="•"/>
            </a:pPr>
            <a:r>
              <a:rPr lang="en-US" sz="3180">
                <a:solidFill>
                  <a:srgbClr val="434032"/>
                </a:solidFill>
                <a:latin typeface="Open Sans"/>
                <a:ea typeface="Open Sans"/>
                <a:cs typeface="Open Sans"/>
                <a:sym typeface="Open Sans"/>
              </a:rPr>
              <a:t>🌦️ Real-time environmental data</a:t>
            </a:r>
          </a:p>
          <a:p>
            <a:pPr algn="l" marL="686758" indent="-343379" lvl="1">
              <a:lnSpc>
                <a:spcPts val="4453"/>
              </a:lnSpc>
              <a:buFont typeface="Arial"/>
              <a:buChar char="•"/>
            </a:pPr>
            <a:r>
              <a:rPr lang="en-US" sz="3180">
                <a:solidFill>
                  <a:srgbClr val="434032"/>
                </a:solidFill>
                <a:latin typeface="Open Sans"/>
                <a:ea typeface="Open Sans"/>
                <a:cs typeface="Open Sans"/>
                <a:sym typeface="Open Sans"/>
              </a:rPr>
              <a:t>📱 Mobile application</a:t>
            </a:r>
          </a:p>
          <a:p>
            <a:pPr algn="l" marL="686758" indent="-343379" lvl="1">
              <a:lnSpc>
                <a:spcPts val="4453"/>
              </a:lnSpc>
              <a:buFont typeface="Arial"/>
              <a:buChar char="•"/>
            </a:pPr>
            <a:r>
              <a:rPr lang="en-US" sz="3180">
                <a:solidFill>
                  <a:srgbClr val="434032"/>
                </a:solidFill>
                <a:latin typeface="Open Sans"/>
                <a:ea typeface="Open Sans"/>
                <a:cs typeface="Open Sans"/>
                <a:sym typeface="Open Sans"/>
              </a:rPr>
              <a:t>🔔 Automated alerts</a:t>
            </a:r>
          </a:p>
          <a:p>
            <a:pPr algn="l" marL="686758" indent="-343379" lvl="1">
              <a:lnSpc>
                <a:spcPts val="4453"/>
              </a:lnSpc>
              <a:buFont typeface="Arial"/>
              <a:buChar char="•"/>
            </a:pPr>
            <a:r>
              <a:rPr lang="en-US" sz="3180">
                <a:solidFill>
                  <a:srgbClr val="434032"/>
                </a:solidFill>
                <a:latin typeface="Open Sans"/>
                <a:ea typeface="Open Sans"/>
                <a:cs typeface="Open Sans"/>
                <a:sym typeface="Open Sans"/>
              </a:rPr>
              <a:t>📧 Email/SMS notifications</a:t>
            </a:r>
          </a:p>
          <a:p>
            <a:pPr algn="l" marL="686758" indent="-343379" lvl="1">
              <a:lnSpc>
                <a:spcPts val="4453"/>
              </a:lnSpc>
              <a:buFont typeface="Arial"/>
              <a:buChar char="•"/>
            </a:pPr>
            <a:r>
              <a:rPr lang="en-US" sz="3180">
                <a:solidFill>
                  <a:srgbClr val="434032"/>
                </a:solidFill>
                <a:latin typeface="Open Sans"/>
                <a:ea typeface="Open Sans"/>
                <a:cs typeface="Open Sans"/>
                <a:sym typeface="Open Sans"/>
              </a:rPr>
              <a:t>📊 Advanced analytics</a:t>
            </a:r>
          </a:p>
          <a:p>
            <a:pPr algn="l" marL="686758" indent="-343379" lvl="1">
              <a:lnSpc>
                <a:spcPts val="4453"/>
              </a:lnSpc>
              <a:buFont typeface="Arial"/>
              <a:buChar char="•"/>
            </a:pPr>
            <a:r>
              <a:rPr lang="en-US" sz="3180">
                <a:solidFill>
                  <a:srgbClr val="434032"/>
                </a:solidFill>
                <a:latin typeface="Open Sans"/>
                <a:ea typeface="Open Sans"/>
                <a:cs typeface="Open Sans"/>
                <a:sym typeface="Open Sans"/>
              </a:rPr>
              <a:t>🏫 Integration with campus management systems</a:t>
            </a:r>
          </a:p>
          <a:p>
            <a:pPr algn="l">
              <a:lnSpc>
                <a:spcPts val="4453"/>
              </a:lnSpc>
            </a:pPr>
          </a:p>
        </p:txBody>
      </p:sp>
      <p:sp>
        <p:nvSpPr>
          <p:cNvPr name="TextBox 9" id="9"/>
          <p:cNvSpPr txBox="true"/>
          <p:nvPr/>
        </p:nvSpPr>
        <p:spPr>
          <a:xfrm rot="0">
            <a:off x="8672916" y="7787443"/>
            <a:ext cx="8759438" cy="1470857"/>
          </a:xfrm>
          <a:prstGeom prst="rect">
            <a:avLst/>
          </a:prstGeom>
        </p:spPr>
        <p:txBody>
          <a:bodyPr anchor="t" rtlCol="false" tIns="0" lIns="0" bIns="0" rIns="0">
            <a:spAutoFit/>
          </a:bodyPr>
          <a:lstStyle/>
          <a:p>
            <a:pPr algn="ctr">
              <a:lnSpc>
                <a:spcPts val="2929"/>
              </a:lnSpc>
              <a:spcBef>
                <a:spcPct val="0"/>
              </a:spcBef>
            </a:pPr>
            <a:r>
              <a:rPr lang="en-US" sz="2092">
                <a:solidFill>
                  <a:srgbClr val="434032"/>
                </a:solidFill>
                <a:latin typeface="Open Sans"/>
                <a:ea typeface="Open Sans"/>
                <a:cs typeface="Open Sans"/>
                <a:sym typeface="Open Sans"/>
              </a:rPr>
              <a:t>In the future, our Smart Campus system can be enhanced with real-time monitoring, IoT sensors, automated alerts, mobile applications, and additional data sources to make risk detection faster, smarter, and more effective.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2267" r="0" b="-2267"/>
              </a:stretch>
            </a:blipFill>
          </p:spPr>
        </p:sp>
      </p:grpSp>
      <p:sp>
        <p:nvSpPr>
          <p:cNvPr name="TextBox 4" id="4"/>
          <p:cNvSpPr txBox="true"/>
          <p:nvPr/>
        </p:nvSpPr>
        <p:spPr>
          <a:xfrm rot="0">
            <a:off x="2037836" y="2749534"/>
            <a:ext cx="14212329" cy="2393966"/>
          </a:xfrm>
          <a:prstGeom prst="rect">
            <a:avLst/>
          </a:prstGeom>
        </p:spPr>
        <p:txBody>
          <a:bodyPr anchor="t" rtlCol="false" tIns="0" lIns="0" bIns="0" rIns="0">
            <a:spAutoFit/>
          </a:bodyPr>
          <a:lstStyle/>
          <a:p>
            <a:pPr algn="ctr">
              <a:lnSpc>
                <a:spcPts val="16098"/>
              </a:lnSpc>
            </a:pPr>
            <a:r>
              <a:rPr lang="en-US" sz="11499" b="true">
                <a:solidFill>
                  <a:srgbClr val="FFFFFF"/>
                </a:solidFill>
                <a:latin typeface="Poppins Bold"/>
                <a:ea typeface="Poppins Bold"/>
                <a:cs typeface="Poppins Bold"/>
                <a:sym typeface="Poppi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DAHTdS-flPE</dc:identifier>
  <dcterms:modified xsi:type="dcterms:W3CDTF">2011-08-01T06:04:30Z</dcterms:modified>
  <cp:revision>1</cp:revision>
  <dc:title>Smart Campus Early-Warning &amp; Decision Support System.pptx</dc:title>
</cp:coreProperties>
</file>