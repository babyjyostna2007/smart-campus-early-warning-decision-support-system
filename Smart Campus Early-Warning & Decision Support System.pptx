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Open Sans" charset="1" panose="00000000000000000000"/>
      <p:regular r:id="rId17"/>
    </p:embeddedFont>
    <p:embeddedFont>
      <p:font typeface="Poppins" charset="1" panose="00000500000000000000"/>
      <p:regular r:id="rId18"/>
    </p:embeddedFont>
    <p:embeddedFont>
      <p:font typeface="Open Sans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2037834" y="3225786"/>
            <a:ext cx="14212331" cy="2240268"/>
          </a:xfrm>
          <a:prstGeom prst="rect">
            <a:avLst/>
          </a:prstGeom>
        </p:spPr>
        <p:txBody>
          <a:bodyPr anchor="t" rtlCol="false" tIns="0" lIns="0" bIns="0" rIns="0">
            <a:spAutoFit/>
          </a:bodyPr>
          <a:lstStyle/>
          <a:p>
            <a:pPr algn="ctr">
              <a:lnSpc>
                <a:spcPts val="8820"/>
              </a:lnSpc>
            </a:pPr>
            <a:r>
              <a:rPr lang="en-US" sz="6300" b="true">
                <a:solidFill>
                  <a:srgbClr val="FFFFFF"/>
                </a:solidFill>
                <a:latin typeface="Poppins Bold"/>
                <a:ea typeface="Poppins Bold"/>
                <a:cs typeface="Poppins Bold"/>
                <a:sym typeface="Poppins Bold"/>
              </a:rPr>
              <a:t>Smart Campus Early-Warning &amp; Decision Support System</a:t>
            </a:r>
          </a:p>
        </p:txBody>
      </p:sp>
      <p:sp>
        <p:nvSpPr>
          <p:cNvPr name="TextBox 4" id="4"/>
          <p:cNvSpPr txBox="true"/>
          <p:nvPr/>
        </p:nvSpPr>
        <p:spPr>
          <a:xfrm rot="0">
            <a:off x="4240212" y="5696065"/>
            <a:ext cx="9807576" cy="372744"/>
          </a:xfrm>
          <a:prstGeom prst="rect">
            <a:avLst/>
          </a:prstGeom>
        </p:spPr>
        <p:txBody>
          <a:bodyPr anchor="t" rtlCol="false" tIns="0" lIns="0" bIns="0" rIns="0">
            <a:spAutoFit/>
          </a:bodyPr>
          <a:lstStyle/>
          <a:p>
            <a:pPr algn="ctr">
              <a:lnSpc>
                <a:spcPts val="3080"/>
              </a:lnSpc>
            </a:pPr>
            <a:r>
              <a:rPr lang="en-US" sz="2200">
                <a:solidFill>
                  <a:srgbClr val="FFFFFF"/>
                </a:solidFill>
                <a:latin typeface="Open Sans"/>
                <a:ea typeface="Open Sans"/>
                <a:cs typeface="Open Sans"/>
                <a:sym typeface="Open Sans"/>
              </a:rPr>
              <a:t>Team Members: Kavyalaks</a:t>
            </a:r>
            <a:r>
              <a:rPr lang="en-US" sz="2200">
                <a:solidFill>
                  <a:srgbClr val="FFFFFF"/>
                </a:solidFill>
                <a:latin typeface="Open Sans"/>
                <a:ea typeface="Open Sans"/>
                <a:cs typeface="Open Sans"/>
                <a:sym typeface="Open Sans"/>
              </a:rPr>
              <a:t>hmi | Baby Jyostna | Charan | Tharun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12663" y="5342125"/>
            <a:ext cx="3086100" cy="4944875"/>
            <a:chOff x="0" y="0"/>
            <a:chExt cx="812800" cy="1302354"/>
          </a:xfrm>
        </p:grpSpPr>
        <p:sp>
          <p:nvSpPr>
            <p:cNvPr name="Freeform 3" id="3"/>
            <p:cNvSpPr/>
            <p:nvPr/>
          </p:nvSpPr>
          <p:spPr>
            <a:xfrm flipH="false" flipV="false" rot="0">
              <a:off x="0" y="0"/>
              <a:ext cx="812800" cy="1302354"/>
            </a:xfrm>
            <a:custGeom>
              <a:avLst/>
              <a:gdLst/>
              <a:ahLst/>
              <a:cxnLst/>
              <a:rect r="r" b="b" t="t" l="l"/>
              <a:pathLst>
                <a:path h="1302354" w="812800">
                  <a:moveTo>
                    <a:pt x="0" y="0"/>
                  </a:moveTo>
                  <a:lnTo>
                    <a:pt x="812800" y="0"/>
                  </a:lnTo>
                  <a:lnTo>
                    <a:pt x="812800" y="1302354"/>
                  </a:lnTo>
                  <a:lnTo>
                    <a:pt x="0" y="1302354"/>
                  </a:lnTo>
                  <a:close/>
                </a:path>
              </a:pathLst>
            </a:custGeom>
            <a:solidFill>
              <a:srgbClr val="005AFF"/>
            </a:solidFill>
          </p:spPr>
        </p:sp>
        <p:sp>
          <p:nvSpPr>
            <p:cNvPr name="TextBox 4" id="4"/>
            <p:cNvSpPr txBox="true"/>
            <p:nvPr/>
          </p:nvSpPr>
          <p:spPr>
            <a:xfrm>
              <a:off x="0" y="-47625"/>
              <a:ext cx="812800" cy="1349979"/>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452127" y="1385186"/>
            <a:ext cx="6807173" cy="68071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4999" t="0" r="-25000" b="0"/>
              </a:stretch>
            </a:blipFill>
          </p:spPr>
        </p:sp>
      </p:grpSp>
      <p:sp>
        <p:nvSpPr>
          <p:cNvPr name="TextBox 7" id="7"/>
          <p:cNvSpPr txBox="true"/>
          <p:nvPr/>
        </p:nvSpPr>
        <p:spPr>
          <a:xfrm rot="0">
            <a:off x="3559245" y="809625"/>
            <a:ext cx="9289701" cy="1362065"/>
          </a:xfrm>
          <a:prstGeom prst="rect">
            <a:avLst/>
          </a:prstGeom>
        </p:spPr>
        <p:txBody>
          <a:bodyPr anchor="t" rtlCol="false" tIns="0" lIns="0" bIns="0" rIns="0">
            <a:spAutoFit/>
          </a:bodyPr>
          <a:lstStyle/>
          <a:p>
            <a:pPr algn="l">
              <a:lnSpc>
                <a:spcPts val="10500"/>
              </a:lnSpc>
            </a:pPr>
            <a:r>
              <a:rPr lang="en-US" sz="7500">
                <a:solidFill>
                  <a:srgbClr val="434032"/>
                </a:solidFill>
                <a:latin typeface="Poppins"/>
                <a:ea typeface="Poppins"/>
                <a:cs typeface="Poppins"/>
                <a:sym typeface="Poppins"/>
              </a:rPr>
              <a:t>Obj</a:t>
            </a:r>
            <a:r>
              <a:rPr lang="en-US" sz="7500">
                <a:solidFill>
                  <a:srgbClr val="434032"/>
                </a:solidFill>
                <a:latin typeface="Poppins"/>
                <a:ea typeface="Poppins"/>
                <a:cs typeface="Poppins"/>
                <a:sym typeface="Poppins"/>
              </a:rPr>
              <a:t>ective</a:t>
            </a:r>
          </a:p>
        </p:txBody>
      </p:sp>
      <p:sp>
        <p:nvSpPr>
          <p:cNvPr name="TextBox 8" id="8"/>
          <p:cNvSpPr txBox="true"/>
          <p:nvPr/>
        </p:nvSpPr>
        <p:spPr>
          <a:xfrm rot="0">
            <a:off x="312739" y="3315365"/>
            <a:ext cx="9907741" cy="4942636"/>
          </a:xfrm>
          <a:prstGeom prst="rect">
            <a:avLst/>
          </a:prstGeom>
        </p:spPr>
        <p:txBody>
          <a:bodyPr anchor="t" rtlCol="false" tIns="0" lIns="0" bIns="0" rIns="0">
            <a:spAutoFit/>
          </a:bodyPr>
          <a:lstStyle/>
          <a:p>
            <a:pPr algn="ctr">
              <a:lnSpc>
                <a:spcPts val="5146"/>
              </a:lnSpc>
            </a:pPr>
            <a:r>
              <a:rPr lang="en-US" sz="3676">
                <a:solidFill>
                  <a:srgbClr val="434032"/>
                </a:solidFill>
                <a:latin typeface="Open Sans"/>
                <a:ea typeface="Open Sans"/>
                <a:cs typeface="Open Sans"/>
                <a:sym typeface="Open Sans"/>
              </a:rPr>
              <a:t>The</a:t>
            </a:r>
            <a:r>
              <a:rPr lang="en-US" sz="3676">
                <a:solidFill>
                  <a:srgbClr val="434032"/>
                </a:solidFill>
                <a:latin typeface="Open Sans"/>
                <a:ea typeface="Open Sans"/>
                <a:cs typeface="Open Sans"/>
                <a:sym typeface="Open Sans"/>
              </a:rPr>
              <a:t> main objective of this project is to monitor different campus conditions and identify potential risks at an early stage. The system uses campus data and Machine Learning to predict the risk level and provide an early warning along with a recommended preventive action.</a:t>
            </a:r>
          </a:p>
          <a:p>
            <a:pPr algn="ctr">
              <a:lnSpc>
                <a:spcPts val="3345"/>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0" y="0"/>
                  </a:moveTo>
                  <a:lnTo>
                    <a:pt x="812800" y="0"/>
                  </a:lnTo>
                  <a:lnTo>
                    <a:pt x="812800" y="2709333"/>
                  </a:lnTo>
                  <a:lnTo>
                    <a:pt x="0" y="2709333"/>
                  </a:lnTo>
                  <a:close/>
                </a:path>
              </a:pathLst>
            </a:custGeom>
            <a:solidFill>
              <a:srgbClr val="005AFF"/>
            </a:solidFill>
          </p:spPr>
        </p:sp>
        <p:sp>
          <p:nvSpPr>
            <p:cNvPr name="TextBox 4" id="4"/>
            <p:cNvSpPr txBox="true"/>
            <p:nvPr/>
          </p:nvSpPr>
          <p:spPr>
            <a:xfrm>
              <a:off x="0" y="-47625"/>
              <a:ext cx="812800"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8700" y="1028700"/>
            <a:ext cx="7545007" cy="8229600"/>
            <a:chOff x="0" y="0"/>
            <a:chExt cx="1168919" cy="1274980"/>
          </a:xfrm>
        </p:grpSpPr>
        <p:sp>
          <p:nvSpPr>
            <p:cNvPr name="Freeform 6" id="6"/>
            <p:cNvSpPr/>
            <p:nvPr/>
          </p:nvSpPr>
          <p:spPr>
            <a:xfrm flipH="false" flipV="false" rot="0">
              <a:off x="0" y="0"/>
              <a:ext cx="1168919" cy="1274980"/>
            </a:xfrm>
            <a:custGeom>
              <a:avLst/>
              <a:gdLst/>
              <a:ahLst/>
              <a:cxnLst/>
              <a:rect r="r" b="b" t="t" l="l"/>
              <a:pathLst>
                <a:path h="1274980" w="1168919">
                  <a:moveTo>
                    <a:pt x="0" y="0"/>
                  </a:moveTo>
                  <a:lnTo>
                    <a:pt x="1168919" y="0"/>
                  </a:lnTo>
                  <a:lnTo>
                    <a:pt x="1168919" y="1274980"/>
                  </a:lnTo>
                  <a:lnTo>
                    <a:pt x="0" y="1274980"/>
                  </a:lnTo>
                  <a:close/>
                </a:path>
              </a:pathLst>
            </a:custGeom>
            <a:blipFill>
              <a:blip r:embed="rId2"/>
              <a:stretch>
                <a:fillRect l="-4536" t="0" r="-4536" b="0"/>
              </a:stretch>
            </a:blipFill>
          </p:spPr>
        </p:sp>
      </p:grpSp>
      <p:sp>
        <p:nvSpPr>
          <p:cNvPr name="TextBox 7" id="7"/>
          <p:cNvSpPr txBox="true"/>
          <p:nvPr/>
        </p:nvSpPr>
        <p:spPr>
          <a:xfrm rot="0">
            <a:off x="10092931" y="128798"/>
            <a:ext cx="6309986" cy="1346823"/>
          </a:xfrm>
          <a:prstGeom prst="rect">
            <a:avLst/>
          </a:prstGeom>
        </p:spPr>
        <p:txBody>
          <a:bodyPr anchor="t" rtlCol="false" tIns="0" lIns="0" bIns="0" rIns="0">
            <a:spAutoFit/>
          </a:bodyPr>
          <a:lstStyle/>
          <a:p>
            <a:pPr algn="l">
              <a:lnSpc>
                <a:spcPts val="8820"/>
              </a:lnSpc>
            </a:pPr>
            <a:r>
              <a:rPr lang="en-US" sz="6300">
                <a:solidFill>
                  <a:srgbClr val="434032"/>
                </a:solidFill>
                <a:latin typeface="Poppins"/>
                <a:ea typeface="Poppins"/>
                <a:cs typeface="Poppins"/>
                <a:sym typeface="Poppins"/>
              </a:rPr>
              <a:t> M</a:t>
            </a:r>
            <a:r>
              <a:rPr lang="en-US" sz="6300">
                <a:solidFill>
                  <a:srgbClr val="434032"/>
                </a:solidFill>
                <a:latin typeface="Poppins"/>
                <a:ea typeface="Poppins"/>
                <a:cs typeface="Poppins"/>
                <a:sym typeface="Poppins"/>
              </a:rPr>
              <a:t>ain Features:</a:t>
            </a:r>
          </a:p>
          <a:p>
            <a:pPr algn="l">
              <a:lnSpc>
                <a:spcPts val="1260"/>
              </a:lnSpc>
            </a:pPr>
          </a:p>
        </p:txBody>
      </p:sp>
      <p:sp>
        <p:nvSpPr>
          <p:cNvPr name="TextBox 8" id="8"/>
          <p:cNvSpPr txBox="true"/>
          <p:nvPr/>
        </p:nvSpPr>
        <p:spPr>
          <a:xfrm rot="0">
            <a:off x="9144000" y="1370846"/>
            <a:ext cx="8793095" cy="8674812"/>
          </a:xfrm>
          <a:prstGeom prst="rect">
            <a:avLst/>
          </a:prstGeom>
        </p:spPr>
        <p:txBody>
          <a:bodyPr anchor="t" rtlCol="false" tIns="0" lIns="0" bIns="0" rIns="0">
            <a:spAutoFit/>
          </a:bodyPr>
          <a:lstStyle/>
          <a:p>
            <a:pPr algn="l" marL="617686" indent="-308843" lvl="1">
              <a:lnSpc>
                <a:spcPts val="4577"/>
              </a:lnSpc>
              <a:buFont typeface="Arial"/>
              <a:buChar char="•"/>
            </a:pPr>
            <a:r>
              <a:rPr lang="en-US" b="true" sz="2860">
                <a:solidFill>
                  <a:srgbClr val="434032"/>
                </a:solidFill>
                <a:latin typeface="Open Sans Bold"/>
                <a:ea typeface="Open Sans Bold"/>
                <a:cs typeface="Open Sans Bold"/>
                <a:sym typeface="Open Sans Bold"/>
              </a:rPr>
              <a:t>Risk Pr</a:t>
            </a:r>
            <a:r>
              <a:rPr lang="en-US" b="true" sz="2860">
                <a:solidFill>
                  <a:srgbClr val="434032"/>
                </a:solidFill>
                <a:latin typeface="Open Sans Bold"/>
                <a:ea typeface="Open Sans Bold"/>
                <a:cs typeface="Open Sans Bold"/>
                <a:sym typeface="Open Sans Bold"/>
              </a:rPr>
              <a:t>ediction</a:t>
            </a:r>
            <a:r>
              <a:rPr lang="en-US" sz="2860">
                <a:solidFill>
                  <a:srgbClr val="434032"/>
                </a:solidFill>
                <a:latin typeface="Open Sans"/>
                <a:ea typeface="Open Sans"/>
                <a:cs typeface="Open Sans"/>
                <a:sym typeface="Open Sans"/>
              </a:rPr>
              <a:t> – Analyze the input data using a Machine Learning model.</a:t>
            </a:r>
          </a:p>
          <a:p>
            <a:pPr algn="l" marL="617686" indent="-308843" lvl="1">
              <a:lnSpc>
                <a:spcPts val="4577"/>
              </a:lnSpc>
              <a:buFont typeface="Arial"/>
              <a:buChar char="•"/>
            </a:pPr>
            <a:r>
              <a:rPr lang="en-US" b="true" sz="2860">
                <a:solidFill>
                  <a:srgbClr val="434032"/>
                </a:solidFill>
                <a:latin typeface="Open Sans Bold"/>
                <a:ea typeface="Open Sans Bold"/>
                <a:cs typeface="Open Sans Bold"/>
                <a:sym typeface="Open Sans Bold"/>
              </a:rPr>
              <a:t>Risk Classification</a:t>
            </a:r>
            <a:r>
              <a:rPr lang="en-US" sz="2860">
                <a:solidFill>
                  <a:srgbClr val="434032"/>
                </a:solidFill>
                <a:latin typeface="Open Sans"/>
                <a:ea typeface="Open Sans"/>
                <a:cs typeface="Open Sans"/>
                <a:sym typeface="Open Sans"/>
              </a:rPr>
              <a:t> – Classify the situation into:</a:t>
            </a:r>
          </a:p>
          <a:p>
            <a:pPr algn="l">
              <a:lnSpc>
                <a:spcPts val="4577"/>
              </a:lnSpc>
            </a:pPr>
            <a:r>
              <a:rPr lang="en-US" sz="2860">
                <a:solidFill>
                  <a:srgbClr val="434032"/>
                </a:solidFill>
                <a:latin typeface="Open Sans"/>
                <a:ea typeface="Open Sans"/>
                <a:cs typeface="Open Sans"/>
                <a:sym typeface="Open Sans"/>
              </a:rPr>
              <a:t>            1.Low Risk</a:t>
            </a:r>
          </a:p>
          <a:p>
            <a:pPr algn="l">
              <a:lnSpc>
                <a:spcPts val="4577"/>
              </a:lnSpc>
            </a:pPr>
            <a:r>
              <a:rPr lang="en-US" sz="2860">
                <a:solidFill>
                  <a:srgbClr val="434032"/>
                </a:solidFill>
                <a:latin typeface="Open Sans"/>
                <a:ea typeface="Open Sans"/>
                <a:cs typeface="Open Sans"/>
                <a:sym typeface="Open Sans"/>
              </a:rPr>
              <a:t>            2.</a:t>
            </a:r>
            <a:r>
              <a:rPr lang="en-US" sz="2860">
                <a:solidFill>
                  <a:srgbClr val="434032"/>
                </a:solidFill>
                <a:latin typeface="Open Sans"/>
                <a:ea typeface="Open Sans"/>
                <a:cs typeface="Open Sans"/>
                <a:sym typeface="Open Sans"/>
              </a:rPr>
              <a:t>Medium Risk</a:t>
            </a:r>
          </a:p>
          <a:p>
            <a:pPr algn="l">
              <a:lnSpc>
                <a:spcPts val="4577"/>
              </a:lnSpc>
            </a:pPr>
            <a:r>
              <a:rPr lang="en-US" sz="2860">
                <a:solidFill>
                  <a:srgbClr val="434032"/>
                </a:solidFill>
                <a:latin typeface="Open Sans"/>
                <a:ea typeface="Open Sans"/>
                <a:cs typeface="Open Sans"/>
                <a:sym typeface="Open Sans"/>
              </a:rPr>
              <a:t>            3.</a:t>
            </a:r>
            <a:r>
              <a:rPr lang="en-US" sz="2860">
                <a:solidFill>
                  <a:srgbClr val="434032"/>
                </a:solidFill>
                <a:latin typeface="Open Sans"/>
                <a:ea typeface="Open Sans"/>
                <a:cs typeface="Open Sans"/>
                <a:sym typeface="Open Sans"/>
              </a:rPr>
              <a:t>High Risk</a:t>
            </a:r>
          </a:p>
          <a:p>
            <a:pPr algn="l" marL="617686" indent="-308843" lvl="1">
              <a:lnSpc>
                <a:spcPts val="4577"/>
              </a:lnSpc>
              <a:buFont typeface="Arial"/>
              <a:buChar char="•"/>
            </a:pPr>
            <a:r>
              <a:rPr lang="en-US" b="true" sz="2860">
                <a:solidFill>
                  <a:srgbClr val="434032"/>
                </a:solidFill>
                <a:latin typeface="Open Sans Bold"/>
                <a:ea typeface="Open Sans Bold"/>
                <a:cs typeface="Open Sans Bold"/>
                <a:sym typeface="Open Sans Bold"/>
              </a:rPr>
              <a:t>Early Warning</a:t>
            </a:r>
            <a:r>
              <a:rPr lang="en-US" sz="2860">
                <a:solidFill>
                  <a:srgbClr val="434032"/>
                </a:solidFill>
                <a:latin typeface="Open Sans"/>
                <a:ea typeface="Open Sans"/>
                <a:cs typeface="Open Sans"/>
                <a:sym typeface="Open Sans"/>
              </a:rPr>
              <a:t> – Generate a warning when a potential problem is detected.</a:t>
            </a:r>
          </a:p>
          <a:p>
            <a:pPr algn="l" marL="617686" indent="-308843" lvl="1">
              <a:lnSpc>
                <a:spcPts val="4577"/>
              </a:lnSpc>
              <a:buFont typeface="Arial"/>
              <a:buChar char="•"/>
            </a:pPr>
            <a:r>
              <a:rPr lang="en-US" b="true" sz="2860">
                <a:solidFill>
                  <a:srgbClr val="434032"/>
                </a:solidFill>
                <a:latin typeface="Open Sans Bold"/>
                <a:ea typeface="Open Sans Bold"/>
                <a:cs typeface="Open Sans Bold"/>
                <a:sym typeface="Open Sans Bold"/>
              </a:rPr>
              <a:t>Recommended Action</a:t>
            </a:r>
            <a:r>
              <a:rPr lang="en-US" sz="2860">
                <a:solidFill>
                  <a:srgbClr val="434032"/>
                </a:solidFill>
                <a:latin typeface="Open Sans"/>
                <a:ea typeface="Open Sans"/>
                <a:cs typeface="Open Sans"/>
                <a:sym typeface="Open Sans"/>
              </a:rPr>
              <a:t> – Suggest preventive action for the detected risk.</a:t>
            </a:r>
          </a:p>
          <a:p>
            <a:pPr algn="l" marL="617686" indent="-308843" lvl="1">
              <a:lnSpc>
                <a:spcPts val="4577"/>
              </a:lnSpc>
              <a:buFont typeface="Arial"/>
              <a:buChar char="•"/>
            </a:pPr>
            <a:r>
              <a:rPr lang="en-US" b="true" sz="2860">
                <a:solidFill>
                  <a:srgbClr val="434032"/>
                </a:solidFill>
                <a:latin typeface="Open Sans Bold"/>
                <a:ea typeface="Open Sans Bold"/>
                <a:cs typeface="Open Sans Bold"/>
                <a:sym typeface="Open Sans Bold"/>
              </a:rPr>
              <a:t>Simple Dashboard</a:t>
            </a:r>
            <a:r>
              <a:rPr lang="en-US" sz="2860">
                <a:solidFill>
                  <a:srgbClr val="434032"/>
                </a:solidFill>
                <a:latin typeface="Open Sans"/>
                <a:ea typeface="Open Sans"/>
                <a:cs typeface="Open Sans"/>
                <a:sym typeface="Open Sans"/>
              </a:rPr>
              <a:t> – Display input values, risk level, warning, and recommendation clearly.</a:t>
            </a:r>
          </a:p>
          <a:p>
            <a:pPr algn="l" marL="617686" indent="-308843" lvl="1">
              <a:lnSpc>
                <a:spcPts val="4577"/>
              </a:lnSpc>
              <a:buFont typeface="Arial"/>
              <a:buChar char="•"/>
            </a:pPr>
            <a:r>
              <a:rPr lang="en-US" b="true" sz="2860">
                <a:solidFill>
                  <a:srgbClr val="434032"/>
                </a:solidFill>
                <a:latin typeface="Open Sans Bold"/>
                <a:ea typeface="Open Sans Bold"/>
                <a:cs typeface="Open Sans Bold"/>
                <a:sym typeface="Open Sans Bold"/>
              </a:rPr>
              <a:t>Real-Time Analysis</a:t>
            </a:r>
            <a:r>
              <a:rPr lang="en-US" sz="2860">
                <a:solidFill>
                  <a:srgbClr val="434032"/>
                </a:solidFill>
                <a:latin typeface="Open Sans"/>
                <a:ea typeface="Open Sans"/>
                <a:cs typeface="Open Sans"/>
                <a:sym typeface="Open Sans"/>
              </a:rPr>
              <a:t> – Analyze the values entered by the user and immediately show the prediction.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258304" cy="2983658"/>
            <a:chOff x="0" y="0"/>
            <a:chExt cx="1384903" cy="785819"/>
          </a:xfrm>
        </p:grpSpPr>
        <p:sp>
          <p:nvSpPr>
            <p:cNvPr name="Freeform 3" id="3"/>
            <p:cNvSpPr/>
            <p:nvPr/>
          </p:nvSpPr>
          <p:spPr>
            <a:xfrm flipH="false" flipV="false" rot="0">
              <a:off x="0" y="0"/>
              <a:ext cx="1384903" cy="785819"/>
            </a:xfrm>
            <a:custGeom>
              <a:avLst/>
              <a:gdLst/>
              <a:ahLst/>
              <a:cxnLst/>
              <a:rect r="r" b="b" t="t" l="l"/>
              <a:pathLst>
                <a:path h="785819" w="1384903">
                  <a:moveTo>
                    <a:pt x="0" y="0"/>
                  </a:moveTo>
                  <a:lnTo>
                    <a:pt x="1384903" y="0"/>
                  </a:lnTo>
                  <a:lnTo>
                    <a:pt x="1384903" y="785819"/>
                  </a:lnTo>
                  <a:lnTo>
                    <a:pt x="0" y="785819"/>
                  </a:lnTo>
                  <a:close/>
                </a:path>
              </a:pathLst>
            </a:custGeom>
            <a:solidFill>
              <a:srgbClr val="005AFF"/>
            </a:solidFill>
          </p:spPr>
        </p:sp>
        <p:sp>
          <p:nvSpPr>
            <p:cNvPr name="TextBox 4" id="4"/>
            <p:cNvSpPr txBox="true"/>
            <p:nvPr/>
          </p:nvSpPr>
          <p:spPr>
            <a:xfrm>
              <a:off x="0" y="-47625"/>
              <a:ext cx="1384903" cy="833444"/>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8700" y="1028700"/>
            <a:ext cx="7136948" cy="8229600"/>
            <a:chOff x="0" y="0"/>
            <a:chExt cx="1292002" cy="1489805"/>
          </a:xfrm>
        </p:grpSpPr>
        <p:sp>
          <p:nvSpPr>
            <p:cNvPr name="Freeform 6" id="6"/>
            <p:cNvSpPr/>
            <p:nvPr/>
          </p:nvSpPr>
          <p:spPr>
            <a:xfrm flipH="false" flipV="false" rot="0">
              <a:off x="0" y="0"/>
              <a:ext cx="1292002" cy="1489805"/>
            </a:xfrm>
            <a:custGeom>
              <a:avLst/>
              <a:gdLst/>
              <a:ahLst/>
              <a:cxnLst/>
              <a:rect r="r" b="b" t="t" l="l"/>
              <a:pathLst>
                <a:path h="1489805" w="1292002">
                  <a:moveTo>
                    <a:pt x="0" y="0"/>
                  </a:moveTo>
                  <a:lnTo>
                    <a:pt x="1292002" y="0"/>
                  </a:lnTo>
                  <a:lnTo>
                    <a:pt x="1292002" y="1489805"/>
                  </a:lnTo>
                  <a:lnTo>
                    <a:pt x="0" y="1489805"/>
                  </a:lnTo>
                  <a:close/>
                </a:path>
              </a:pathLst>
            </a:custGeom>
            <a:blipFill>
              <a:blip r:embed="rId2"/>
              <a:stretch>
                <a:fillRect l="-36482" t="0" r="-36482" b="0"/>
              </a:stretch>
            </a:blipFill>
          </p:spPr>
        </p:sp>
      </p:grpSp>
      <p:grpSp>
        <p:nvGrpSpPr>
          <p:cNvPr name="Group 7" id="7"/>
          <p:cNvGrpSpPr/>
          <p:nvPr/>
        </p:nvGrpSpPr>
        <p:grpSpPr>
          <a:xfrm rot="0">
            <a:off x="9144000" y="3187637"/>
            <a:ext cx="3174868" cy="5726243"/>
            <a:chOff x="0" y="0"/>
            <a:chExt cx="836179" cy="1508146"/>
          </a:xfrm>
        </p:grpSpPr>
        <p:sp>
          <p:nvSpPr>
            <p:cNvPr name="Freeform 8" id="8"/>
            <p:cNvSpPr/>
            <p:nvPr/>
          </p:nvSpPr>
          <p:spPr>
            <a:xfrm flipH="false" flipV="false" rot="0">
              <a:off x="0" y="0"/>
              <a:ext cx="836179" cy="1508146"/>
            </a:xfrm>
            <a:custGeom>
              <a:avLst/>
              <a:gdLst/>
              <a:ahLst/>
              <a:cxnLst/>
              <a:rect r="r" b="b" t="t" l="l"/>
              <a:pathLst>
                <a:path h="1508146" w="836179">
                  <a:moveTo>
                    <a:pt x="243850" y="0"/>
                  </a:moveTo>
                  <a:lnTo>
                    <a:pt x="592329" y="0"/>
                  </a:lnTo>
                  <a:cubicBezTo>
                    <a:pt x="657002" y="0"/>
                    <a:pt x="719026" y="25691"/>
                    <a:pt x="764757" y="71422"/>
                  </a:cubicBezTo>
                  <a:cubicBezTo>
                    <a:pt x="810488" y="117153"/>
                    <a:pt x="836179" y="179177"/>
                    <a:pt x="836179" y="243850"/>
                  </a:cubicBezTo>
                  <a:lnTo>
                    <a:pt x="836179" y="1264296"/>
                  </a:lnTo>
                  <a:cubicBezTo>
                    <a:pt x="836179" y="1328969"/>
                    <a:pt x="810488" y="1390993"/>
                    <a:pt x="764757" y="1436724"/>
                  </a:cubicBezTo>
                  <a:cubicBezTo>
                    <a:pt x="719026" y="1482455"/>
                    <a:pt x="657002" y="1508146"/>
                    <a:pt x="592329" y="1508146"/>
                  </a:cubicBezTo>
                  <a:lnTo>
                    <a:pt x="243850" y="1508146"/>
                  </a:lnTo>
                  <a:cubicBezTo>
                    <a:pt x="109175" y="1508146"/>
                    <a:pt x="0" y="1398971"/>
                    <a:pt x="0" y="1264296"/>
                  </a:cubicBezTo>
                  <a:lnTo>
                    <a:pt x="0" y="243850"/>
                  </a:lnTo>
                  <a:cubicBezTo>
                    <a:pt x="0" y="179177"/>
                    <a:pt x="25691" y="117153"/>
                    <a:pt x="71422" y="71422"/>
                  </a:cubicBezTo>
                  <a:cubicBezTo>
                    <a:pt x="117153" y="25691"/>
                    <a:pt x="179177" y="0"/>
                    <a:pt x="243850" y="0"/>
                  </a:cubicBezTo>
                  <a:close/>
                </a:path>
              </a:pathLst>
            </a:custGeom>
            <a:solidFill>
              <a:srgbClr val="005AFF"/>
            </a:solidFill>
          </p:spPr>
        </p:sp>
        <p:sp>
          <p:nvSpPr>
            <p:cNvPr name="TextBox 9" id="9"/>
            <p:cNvSpPr txBox="true"/>
            <p:nvPr/>
          </p:nvSpPr>
          <p:spPr>
            <a:xfrm>
              <a:off x="0" y="-47625"/>
              <a:ext cx="836179" cy="1555771"/>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13299943" y="3187637"/>
            <a:ext cx="3959357" cy="5726243"/>
            <a:chOff x="0" y="0"/>
            <a:chExt cx="1042794" cy="1508146"/>
          </a:xfrm>
        </p:grpSpPr>
        <p:sp>
          <p:nvSpPr>
            <p:cNvPr name="Freeform 11" id="11"/>
            <p:cNvSpPr/>
            <p:nvPr/>
          </p:nvSpPr>
          <p:spPr>
            <a:xfrm flipH="false" flipV="false" rot="0">
              <a:off x="0" y="0"/>
              <a:ext cx="1042794" cy="1508146"/>
            </a:xfrm>
            <a:custGeom>
              <a:avLst/>
              <a:gdLst/>
              <a:ahLst/>
              <a:cxnLst/>
              <a:rect r="r" b="b" t="t" l="l"/>
              <a:pathLst>
                <a:path h="1508146" w="1042794">
                  <a:moveTo>
                    <a:pt x="195535" y="0"/>
                  </a:moveTo>
                  <a:lnTo>
                    <a:pt x="847259" y="0"/>
                  </a:lnTo>
                  <a:cubicBezTo>
                    <a:pt x="955250" y="0"/>
                    <a:pt x="1042794" y="87544"/>
                    <a:pt x="1042794" y="195535"/>
                  </a:cubicBezTo>
                  <a:lnTo>
                    <a:pt x="1042794" y="1312612"/>
                  </a:lnTo>
                  <a:cubicBezTo>
                    <a:pt x="1042794" y="1420602"/>
                    <a:pt x="955250" y="1508146"/>
                    <a:pt x="847259" y="1508146"/>
                  </a:cubicBezTo>
                  <a:lnTo>
                    <a:pt x="195535" y="1508146"/>
                  </a:lnTo>
                  <a:cubicBezTo>
                    <a:pt x="87544" y="1508146"/>
                    <a:pt x="0" y="1420602"/>
                    <a:pt x="0" y="1312612"/>
                  </a:cubicBezTo>
                  <a:lnTo>
                    <a:pt x="0" y="195535"/>
                  </a:lnTo>
                  <a:cubicBezTo>
                    <a:pt x="0" y="87544"/>
                    <a:pt x="87544" y="0"/>
                    <a:pt x="195535" y="0"/>
                  </a:cubicBezTo>
                  <a:close/>
                </a:path>
              </a:pathLst>
            </a:custGeom>
            <a:solidFill>
              <a:srgbClr val="005AFF"/>
            </a:solidFill>
          </p:spPr>
        </p:sp>
        <p:sp>
          <p:nvSpPr>
            <p:cNvPr name="TextBox 12" id="12"/>
            <p:cNvSpPr txBox="true"/>
            <p:nvPr/>
          </p:nvSpPr>
          <p:spPr>
            <a:xfrm>
              <a:off x="0" y="-57150"/>
              <a:ext cx="1042794" cy="1565296"/>
            </a:xfrm>
            <a:prstGeom prst="rect">
              <a:avLst/>
            </a:prstGeom>
          </p:spPr>
          <p:txBody>
            <a:bodyPr anchor="ctr" rtlCol="false" tIns="50800" lIns="50800" bIns="50800" rIns="50800"/>
            <a:lstStyle/>
            <a:p>
              <a:pPr algn="ctr">
                <a:lnSpc>
                  <a:spcPts val="3640"/>
                </a:lnSpc>
              </a:pPr>
              <a:r>
                <a:rPr lang="en-US" sz="2600">
                  <a:solidFill>
                    <a:srgbClr val="FFFFFF"/>
                  </a:solidFill>
                  <a:latin typeface="Open Sans"/>
                  <a:ea typeface="Open Sans"/>
                  <a:cs typeface="Open Sans"/>
                  <a:sym typeface="Open Sans"/>
                </a:rPr>
                <a:t>Programming</a:t>
              </a:r>
            </a:p>
            <a:p>
              <a:pPr algn="ctr">
                <a:lnSpc>
                  <a:spcPts val="3640"/>
                </a:lnSpc>
              </a:pPr>
              <a:r>
                <a:rPr lang="en-US" sz="2600">
                  <a:solidFill>
                    <a:srgbClr val="FFFFFF"/>
                  </a:solidFill>
                  <a:latin typeface="Open Sans"/>
                  <a:ea typeface="Open Sans"/>
                  <a:cs typeface="Open Sans"/>
                  <a:sym typeface="Open Sans"/>
                </a:rPr>
                <a:t> </a:t>
              </a:r>
              <a:r>
                <a:rPr lang="en-US" sz="2600">
                  <a:solidFill>
                    <a:srgbClr val="FFFFFF"/>
                  </a:solidFill>
                  <a:latin typeface="Open Sans"/>
                  <a:ea typeface="Open Sans"/>
                  <a:cs typeface="Open Sans"/>
                  <a:sym typeface="Open Sans"/>
                </a:rPr>
                <a:t>DataManipulation</a:t>
              </a:r>
            </a:p>
            <a:p>
              <a:pPr algn="ctr">
                <a:lnSpc>
                  <a:spcPts val="3640"/>
                </a:lnSpc>
              </a:pPr>
              <a:r>
                <a:rPr lang="en-US" sz="2600">
                  <a:solidFill>
                    <a:srgbClr val="FFFFFF"/>
                  </a:solidFill>
                  <a:latin typeface="Open Sans"/>
                  <a:ea typeface="Open Sans"/>
                  <a:cs typeface="Open Sans"/>
                  <a:sym typeface="Open Sans"/>
                </a:rPr>
                <a:t>Computation</a:t>
              </a:r>
            </a:p>
            <a:p>
              <a:pPr algn="ctr">
                <a:lnSpc>
                  <a:spcPts val="3640"/>
                </a:lnSpc>
              </a:pPr>
              <a:r>
                <a:rPr lang="en-US" sz="2600">
                  <a:solidFill>
                    <a:srgbClr val="FFFFFF"/>
                  </a:solidFill>
                  <a:latin typeface="Open Sans"/>
                  <a:ea typeface="Open Sans"/>
                  <a:cs typeface="Open Sans"/>
                  <a:sym typeface="Open Sans"/>
                </a:rPr>
                <a:t>Plotting</a:t>
              </a:r>
            </a:p>
            <a:p>
              <a:pPr algn="ctr">
                <a:lnSpc>
                  <a:spcPts val="3640"/>
                </a:lnSpc>
              </a:pPr>
              <a:r>
                <a:rPr lang="en-US" sz="2600">
                  <a:solidFill>
                    <a:srgbClr val="FFFFFF"/>
                  </a:solidFill>
                  <a:latin typeface="Open Sans"/>
                  <a:ea typeface="Open Sans"/>
                  <a:cs typeface="Open Sans"/>
                  <a:sym typeface="Open Sans"/>
                </a:rPr>
                <a:t>Visualization</a:t>
              </a:r>
            </a:p>
            <a:p>
              <a:pPr algn="ctr">
                <a:lnSpc>
                  <a:spcPts val="3640"/>
                </a:lnSpc>
              </a:pPr>
              <a:r>
                <a:rPr lang="en-US" sz="2600">
                  <a:solidFill>
                    <a:srgbClr val="FFFFFF"/>
                  </a:solidFill>
                  <a:latin typeface="Open Sans"/>
                  <a:ea typeface="Open Sans"/>
                  <a:cs typeface="Open Sans"/>
                  <a:sym typeface="Open Sans"/>
                </a:rPr>
                <a:t>MachineLearning</a:t>
              </a:r>
            </a:p>
            <a:p>
              <a:pPr algn="ctr">
                <a:lnSpc>
                  <a:spcPts val="3640"/>
                </a:lnSpc>
              </a:pPr>
              <a:r>
                <a:rPr lang="en-US" sz="2600">
                  <a:solidFill>
                    <a:srgbClr val="FFFFFF"/>
                  </a:solidFill>
                  <a:latin typeface="Open Sans"/>
                  <a:ea typeface="Open Sans"/>
                  <a:cs typeface="Open Sans"/>
                  <a:sym typeface="Open Sans"/>
                </a:rPr>
                <a:t>Classification/Prediction</a:t>
              </a:r>
            </a:p>
            <a:p>
              <a:pPr algn="ctr">
                <a:lnSpc>
                  <a:spcPts val="3640"/>
                </a:lnSpc>
              </a:pPr>
              <a:r>
                <a:rPr lang="en-US" sz="2600">
                  <a:solidFill>
                    <a:srgbClr val="FFFFFF"/>
                  </a:solidFill>
                  <a:latin typeface="Open Sans"/>
                  <a:ea typeface="Open Sans"/>
                  <a:cs typeface="Open Sans"/>
                  <a:sym typeface="Open Sans"/>
                </a:rPr>
                <a:t>Serialization</a:t>
              </a:r>
            </a:p>
            <a:p>
              <a:pPr algn="ctr">
                <a:lnSpc>
                  <a:spcPts val="3640"/>
                </a:lnSpc>
              </a:pPr>
              <a:r>
                <a:rPr lang="en-US" sz="2600">
                  <a:solidFill>
                    <a:srgbClr val="FFFFFF"/>
                  </a:solidFill>
                  <a:latin typeface="Open Sans"/>
                  <a:ea typeface="Open Sans"/>
                  <a:cs typeface="Open Sans"/>
                  <a:sym typeface="Open Sans"/>
                </a:rPr>
                <a:t>Deployment</a:t>
              </a:r>
            </a:p>
            <a:p>
              <a:pPr algn="ctr">
                <a:lnSpc>
                  <a:spcPts val="3640"/>
                </a:lnSpc>
              </a:pPr>
              <a:r>
                <a:rPr lang="en-US" sz="2600">
                  <a:solidFill>
                    <a:srgbClr val="FFFFFF"/>
                  </a:solidFill>
                  <a:latin typeface="Open Sans"/>
                  <a:ea typeface="Open Sans"/>
                  <a:cs typeface="Open Sans"/>
                  <a:sym typeface="Open Sans"/>
                </a:rPr>
                <a:t>Storage</a:t>
              </a:r>
            </a:p>
          </p:txBody>
        </p:sp>
      </p:grpSp>
      <p:grpSp>
        <p:nvGrpSpPr>
          <p:cNvPr name="Group 13" id="13"/>
          <p:cNvGrpSpPr/>
          <p:nvPr/>
        </p:nvGrpSpPr>
        <p:grpSpPr>
          <a:xfrm rot="0">
            <a:off x="9144000" y="1813785"/>
            <a:ext cx="3174868" cy="1012942"/>
            <a:chOff x="0" y="0"/>
            <a:chExt cx="836179" cy="266783"/>
          </a:xfrm>
        </p:grpSpPr>
        <p:sp>
          <p:nvSpPr>
            <p:cNvPr name="Freeform 14" id="14"/>
            <p:cNvSpPr/>
            <p:nvPr/>
          </p:nvSpPr>
          <p:spPr>
            <a:xfrm flipH="false" flipV="false" rot="0">
              <a:off x="0" y="0"/>
              <a:ext cx="836179" cy="266783"/>
            </a:xfrm>
            <a:custGeom>
              <a:avLst/>
              <a:gdLst/>
              <a:ahLst/>
              <a:cxnLst/>
              <a:rect r="r" b="b" t="t" l="l"/>
              <a:pathLst>
                <a:path h="266783" w="836179">
                  <a:moveTo>
                    <a:pt x="133392" y="0"/>
                  </a:moveTo>
                  <a:lnTo>
                    <a:pt x="702788" y="0"/>
                  </a:lnTo>
                  <a:cubicBezTo>
                    <a:pt x="776458" y="0"/>
                    <a:pt x="836179" y="59721"/>
                    <a:pt x="836179" y="133392"/>
                  </a:cubicBezTo>
                  <a:lnTo>
                    <a:pt x="836179" y="133392"/>
                  </a:lnTo>
                  <a:cubicBezTo>
                    <a:pt x="836179" y="207062"/>
                    <a:pt x="776458" y="266783"/>
                    <a:pt x="702788" y="266783"/>
                  </a:cubicBezTo>
                  <a:lnTo>
                    <a:pt x="133392" y="266783"/>
                  </a:lnTo>
                  <a:cubicBezTo>
                    <a:pt x="59721" y="266783"/>
                    <a:pt x="0" y="207062"/>
                    <a:pt x="0" y="133392"/>
                  </a:cubicBezTo>
                  <a:lnTo>
                    <a:pt x="0" y="133392"/>
                  </a:lnTo>
                  <a:cubicBezTo>
                    <a:pt x="0" y="59721"/>
                    <a:pt x="59721" y="0"/>
                    <a:pt x="133392" y="0"/>
                  </a:cubicBezTo>
                  <a:close/>
                </a:path>
              </a:pathLst>
            </a:custGeom>
            <a:solidFill>
              <a:srgbClr val="005AFF"/>
            </a:solidFill>
          </p:spPr>
        </p:sp>
        <p:sp>
          <p:nvSpPr>
            <p:cNvPr name="TextBox 15" id="15"/>
            <p:cNvSpPr txBox="true"/>
            <p:nvPr/>
          </p:nvSpPr>
          <p:spPr>
            <a:xfrm>
              <a:off x="0" y="-66675"/>
              <a:ext cx="836179" cy="333458"/>
            </a:xfrm>
            <a:prstGeom prst="rect">
              <a:avLst/>
            </a:prstGeom>
          </p:spPr>
          <p:txBody>
            <a:bodyPr anchor="ctr" rtlCol="false" tIns="50800" lIns="50800" bIns="50800" rIns="50800"/>
            <a:lstStyle/>
            <a:p>
              <a:pPr algn="ctr">
                <a:lnSpc>
                  <a:spcPts val="4759"/>
                </a:lnSpc>
              </a:pPr>
              <a:r>
                <a:rPr lang="en-US" sz="3399">
                  <a:solidFill>
                    <a:srgbClr val="FFFFFF"/>
                  </a:solidFill>
                  <a:latin typeface="Open Sans"/>
                  <a:ea typeface="Open Sans"/>
                  <a:cs typeface="Open Sans"/>
                  <a:sym typeface="Open Sans"/>
                </a:rPr>
                <a:t>Technologies</a:t>
              </a:r>
            </a:p>
          </p:txBody>
        </p:sp>
      </p:grpSp>
      <p:grpSp>
        <p:nvGrpSpPr>
          <p:cNvPr name="Group 16" id="16"/>
          <p:cNvGrpSpPr/>
          <p:nvPr/>
        </p:nvGrpSpPr>
        <p:grpSpPr>
          <a:xfrm rot="0">
            <a:off x="13299943" y="1813785"/>
            <a:ext cx="3959357" cy="1012942"/>
            <a:chOff x="0" y="0"/>
            <a:chExt cx="1042794" cy="266783"/>
          </a:xfrm>
        </p:grpSpPr>
        <p:sp>
          <p:nvSpPr>
            <p:cNvPr name="Freeform 17" id="17"/>
            <p:cNvSpPr/>
            <p:nvPr/>
          </p:nvSpPr>
          <p:spPr>
            <a:xfrm flipH="false" flipV="false" rot="0">
              <a:off x="0" y="0"/>
              <a:ext cx="1042794" cy="266783"/>
            </a:xfrm>
            <a:custGeom>
              <a:avLst/>
              <a:gdLst/>
              <a:ahLst/>
              <a:cxnLst/>
              <a:rect r="r" b="b" t="t" l="l"/>
              <a:pathLst>
                <a:path h="266783" w="1042794">
                  <a:moveTo>
                    <a:pt x="133392" y="0"/>
                  </a:moveTo>
                  <a:lnTo>
                    <a:pt x="909402" y="0"/>
                  </a:lnTo>
                  <a:cubicBezTo>
                    <a:pt x="983072" y="0"/>
                    <a:pt x="1042794" y="59721"/>
                    <a:pt x="1042794" y="133392"/>
                  </a:cubicBezTo>
                  <a:lnTo>
                    <a:pt x="1042794" y="133392"/>
                  </a:lnTo>
                  <a:cubicBezTo>
                    <a:pt x="1042794" y="207062"/>
                    <a:pt x="983072" y="266783"/>
                    <a:pt x="909402" y="266783"/>
                  </a:cubicBezTo>
                  <a:lnTo>
                    <a:pt x="133392" y="266783"/>
                  </a:lnTo>
                  <a:cubicBezTo>
                    <a:pt x="59721" y="266783"/>
                    <a:pt x="0" y="207062"/>
                    <a:pt x="0" y="133392"/>
                  </a:cubicBezTo>
                  <a:lnTo>
                    <a:pt x="0" y="133392"/>
                  </a:lnTo>
                  <a:cubicBezTo>
                    <a:pt x="0" y="59721"/>
                    <a:pt x="59721" y="0"/>
                    <a:pt x="133392" y="0"/>
                  </a:cubicBezTo>
                  <a:close/>
                </a:path>
              </a:pathLst>
            </a:custGeom>
            <a:solidFill>
              <a:srgbClr val="005AFF"/>
            </a:solidFill>
          </p:spPr>
        </p:sp>
        <p:sp>
          <p:nvSpPr>
            <p:cNvPr name="TextBox 18" id="18"/>
            <p:cNvSpPr txBox="true"/>
            <p:nvPr/>
          </p:nvSpPr>
          <p:spPr>
            <a:xfrm>
              <a:off x="0" y="-66675"/>
              <a:ext cx="1042794" cy="333458"/>
            </a:xfrm>
            <a:prstGeom prst="rect">
              <a:avLst/>
            </a:prstGeom>
          </p:spPr>
          <p:txBody>
            <a:bodyPr anchor="ctr" rtlCol="false" tIns="50800" lIns="50800" bIns="50800" rIns="50800"/>
            <a:lstStyle/>
            <a:p>
              <a:pPr algn="ctr">
                <a:lnSpc>
                  <a:spcPts val="4759"/>
                </a:lnSpc>
              </a:pPr>
              <a:r>
                <a:rPr lang="en-US" sz="3399">
                  <a:solidFill>
                    <a:srgbClr val="FFFFFF"/>
                  </a:solidFill>
                  <a:latin typeface="Open Sans"/>
                  <a:ea typeface="Open Sans"/>
                  <a:cs typeface="Open Sans"/>
                  <a:sym typeface="Open Sans"/>
                </a:rPr>
                <a:t>Purpose</a:t>
              </a:r>
            </a:p>
          </p:txBody>
        </p:sp>
      </p:grpSp>
      <p:sp>
        <p:nvSpPr>
          <p:cNvPr name="TextBox 19" id="19"/>
          <p:cNvSpPr txBox="true"/>
          <p:nvPr/>
        </p:nvSpPr>
        <p:spPr>
          <a:xfrm rot="0">
            <a:off x="8900357" y="442600"/>
            <a:ext cx="8565828" cy="1010274"/>
          </a:xfrm>
          <a:prstGeom prst="rect">
            <a:avLst/>
          </a:prstGeom>
        </p:spPr>
        <p:txBody>
          <a:bodyPr anchor="t" rtlCol="false" tIns="0" lIns="0" bIns="0" rIns="0">
            <a:spAutoFit/>
          </a:bodyPr>
          <a:lstStyle/>
          <a:p>
            <a:pPr algn="l">
              <a:lnSpc>
                <a:spcPts val="7840"/>
              </a:lnSpc>
            </a:pPr>
            <a:r>
              <a:rPr lang="en-US" sz="5600">
                <a:solidFill>
                  <a:srgbClr val="000000"/>
                </a:solidFill>
                <a:latin typeface="Poppins"/>
                <a:ea typeface="Poppins"/>
                <a:cs typeface="Poppins"/>
                <a:sym typeface="Poppins"/>
              </a:rPr>
              <a:t>Technologies R</a:t>
            </a:r>
            <a:r>
              <a:rPr lang="en-US" sz="5600">
                <a:solidFill>
                  <a:srgbClr val="000000"/>
                </a:solidFill>
                <a:latin typeface="Poppins"/>
                <a:ea typeface="Poppins"/>
                <a:cs typeface="Poppins"/>
                <a:sym typeface="Poppins"/>
              </a:rPr>
              <a:t>equired:</a:t>
            </a:r>
          </a:p>
        </p:txBody>
      </p:sp>
      <p:sp>
        <p:nvSpPr>
          <p:cNvPr name="TextBox 20" id="20"/>
          <p:cNvSpPr txBox="true"/>
          <p:nvPr/>
        </p:nvSpPr>
        <p:spPr>
          <a:xfrm rot="0">
            <a:off x="9295189" y="3740629"/>
            <a:ext cx="2872490" cy="4563110"/>
          </a:xfrm>
          <a:prstGeom prst="rect">
            <a:avLst/>
          </a:prstGeom>
        </p:spPr>
        <p:txBody>
          <a:bodyPr anchor="t" rtlCol="false" tIns="0" lIns="0" bIns="0" rIns="0">
            <a:spAutoFit/>
          </a:bodyPr>
          <a:lstStyle/>
          <a:p>
            <a:pPr algn="ctr">
              <a:lnSpc>
                <a:spcPts val="3640"/>
              </a:lnSpc>
            </a:pPr>
            <a:r>
              <a:rPr lang="en-US" sz="2600">
                <a:solidFill>
                  <a:srgbClr val="FFFFFF"/>
                </a:solidFill>
                <a:latin typeface="Open Sans"/>
                <a:ea typeface="Open Sans"/>
                <a:cs typeface="Open Sans"/>
                <a:sym typeface="Open Sans"/>
              </a:rPr>
              <a:t>Python</a:t>
            </a:r>
          </a:p>
          <a:p>
            <a:pPr algn="ctr">
              <a:lnSpc>
                <a:spcPts val="3640"/>
              </a:lnSpc>
            </a:pPr>
            <a:r>
              <a:rPr lang="en-US" sz="2600">
                <a:solidFill>
                  <a:srgbClr val="FFFFFF"/>
                </a:solidFill>
                <a:latin typeface="Open Sans"/>
                <a:ea typeface="Open Sans"/>
                <a:cs typeface="Open Sans"/>
                <a:sym typeface="Open Sans"/>
              </a:rPr>
              <a:t>Pandas</a:t>
            </a:r>
          </a:p>
          <a:p>
            <a:pPr algn="ctr">
              <a:lnSpc>
                <a:spcPts val="3640"/>
              </a:lnSpc>
            </a:pPr>
            <a:r>
              <a:rPr lang="en-US" sz="2600">
                <a:solidFill>
                  <a:srgbClr val="FFFFFF"/>
                </a:solidFill>
                <a:latin typeface="Open Sans"/>
                <a:ea typeface="Open Sans"/>
                <a:cs typeface="Open Sans"/>
                <a:sym typeface="Open Sans"/>
              </a:rPr>
              <a:t>NumPy</a:t>
            </a:r>
          </a:p>
          <a:p>
            <a:pPr algn="ctr">
              <a:lnSpc>
                <a:spcPts val="3640"/>
              </a:lnSpc>
            </a:pPr>
            <a:r>
              <a:rPr lang="en-US" sz="2600">
                <a:solidFill>
                  <a:srgbClr val="FFFFFF"/>
                </a:solidFill>
                <a:latin typeface="Open Sans"/>
                <a:ea typeface="Open Sans"/>
                <a:cs typeface="Open Sans"/>
                <a:sym typeface="Open Sans"/>
              </a:rPr>
              <a:t>Matplotlib</a:t>
            </a:r>
          </a:p>
          <a:p>
            <a:pPr algn="ctr">
              <a:lnSpc>
                <a:spcPts val="3640"/>
              </a:lnSpc>
            </a:pPr>
            <a:r>
              <a:rPr lang="en-US" sz="2600">
                <a:solidFill>
                  <a:srgbClr val="FFFFFF"/>
                </a:solidFill>
                <a:latin typeface="Open Sans"/>
                <a:ea typeface="Open Sans"/>
                <a:cs typeface="Open Sans"/>
                <a:sym typeface="Open Sans"/>
              </a:rPr>
              <a:t>Seaborn</a:t>
            </a:r>
          </a:p>
          <a:p>
            <a:pPr algn="ctr">
              <a:lnSpc>
                <a:spcPts val="3640"/>
              </a:lnSpc>
            </a:pPr>
            <a:r>
              <a:rPr lang="en-US" sz="2600">
                <a:solidFill>
                  <a:srgbClr val="FFFFFF"/>
                </a:solidFill>
                <a:latin typeface="Open Sans"/>
                <a:ea typeface="Open Sans"/>
                <a:cs typeface="Open Sans"/>
                <a:sym typeface="Open Sans"/>
              </a:rPr>
              <a:t>Scikit-learn</a:t>
            </a:r>
          </a:p>
          <a:p>
            <a:pPr algn="ctr">
              <a:lnSpc>
                <a:spcPts val="3640"/>
              </a:lnSpc>
            </a:pPr>
            <a:r>
              <a:rPr lang="en-US" sz="2600">
                <a:solidFill>
                  <a:srgbClr val="FFFFFF"/>
                </a:solidFill>
                <a:latin typeface="Open Sans"/>
                <a:ea typeface="Open Sans"/>
                <a:cs typeface="Open Sans"/>
                <a:sym typeface="Open Sans"/>
              </a:rPr>
              <a:t>Random Forest</a:t>
            </a:r>
          </a:p>
          <a:p>
            <a:pPr algn="ctr">
              <a:lnSpc>
                <a:spcPts val="3640"/>
              </a:lnSpc>
            </a:pPr>
            <a:r>
              <a:rPr lang="en-US" sz="2600">
                <a:solidFill>
                  <a:srgbClr val="FFFFFF"/>
                </a:solidFill>
                <a:latin typeface="Open Sans"/>
                <a:ea typeface="Open Sans"/>
                <a:cs typeface="Open Sans"/>
                <a:sym typeface="Open Sans"/>
              </a:rPr>
              <a:t>Joblib</a:t>
            </a:r>
          </a:p>
          <a:p>
            <a:pPr algn="ctr">
              <a:lnSpc>
                <a:spcPts val="3640"/>
              </a:lnSpc>
            </a:pPr>
            <a:r>
              <a:rPr lang="en-US" sz="2600">
                <a:solidFill>
                  <a:srgbClr val="FFFFFF"/>
                </a:solidFill>
                <a:latin typeface="Open Sans"/>
                <a:ea typeface="Open Sans"/>
                <a:cs typeface="Open Sans"/>
                <a:sym typeface="Open Sans"/>
              </a:rPr>
              <a:t>Streamlit</a:t>
            </a:r>
          </a:p>
          <a:p>
            <a:pPr algn="ctr">
              <a:lnSpc>
                <a:spcPts val="3640"/>
              </a:lnSpc>
            </a:pPr>
            <a:r>
              <a:rPr lang="en-US" sz="2600">
                <a:solidFill>
                  <a:srgbClr val="FFFFFF"/>
                </a:solidFill>
                <a:latin typeface="Open Sans"/>
                <a:ea typeface="Open Sans"/>
                <a:cs typeface="Open Sans"/>
                <a:sym typeface="Open Sans"/>
              </a:rPr>
              <a:t>CSV</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101623"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0" y="0"/>
                  </a:moveTo>
                  <a:lnTo>
                    <a:pt x="812800" y="0"/>
                  </a:lnTo>
                  <a:lnTo>
                    <a:pt x="812800" y="2709333"/>
                  </a:lnTo>
                  <a:lnTo>
                    <a:pt x="0" y="2709333"/>
                  </a:lnTo>
                  <a:close/>
                </a:path>
              </a:pathLst>
            </a:custGeom>
            <a:solidFill>
              <a:srgbClr val="005AFF"/>
            </a:solidFill>
          </p:spPr>
        </p:sp>
        <p:sp>
          <p:nvSpPr>
            <p:cNvPr name="TextBox 4" id="4"/>
            <p:cNvSpPr txBox="true"/>
            <p:nvPr/>
          </p:nvSpPr>
          <p:spPr>
            <a:xfrm>
              <a:off x="0" y="-47625"/>
              <a:ext cx="812800"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606644" y="1028700"/>
            <a:ext cx="8189809" cy="8229600"/>
            <a:chOff x="0" y="0"/>
            <a:chExt cx="1268816" cy="1274980"/>
          </a:xfrm>
        </p:grpSpPr>
        <p:sp>
          <p:nvSpPr>
            <p:cNvPr name="Freeform 6" id="6"/>
            <p:cNvSpPr/>
            <p:nvPr/>
          </p:nvSpPr>
          <p:spPr>
            <a:xfrm flipH="false" flipV="false" rot="0">
              <a:off x="0" y="0"/>
              <a:ext cx="1268816" cy="1274980"/>
            </a:xfrm>
            <a:custGeom>
              <a:avLst/>
              <a:gdLst/>
              <a:ahLst/>
              <a:cxnLst/>
              <a:rect r="r" b="b" t="t" l="l"/>
              <a:pathLst>
                <a:path h="1274980" w="1268816">
                  <a:moveTo>
                    <a:pt x="0" y="0"/>
                  </a:moveTo>
                  <a:lnTo>
                    <a:pt x="1268816" y="0"/>
                  </a:lnTo>
                  <a:lnTo>
                    <a:pt x="1268816" y="1274980"/>
                  </a:lnTo>
                  <a:lnTo>
                    <a:pt x="0" y="1274980"/>
                  </a:lnTo>
                  <a:close/>
                </a:path>
              </a:pathLst>
            </a:custGeom>
            <a:blipFill>
              <a:blip r:embed="rId2"/>
              <a:stretch>
                <a:fillRect l="-242" t="0" r="-242" b="0"/>
              </a:stretch>
            </a:blipFill>
          </p:spPr>
        </p:sp>
      </p:grpSp>
      <p:grpSp>
        <p:nvGrpSpPr>
          <p:cNvPr name="Group 7" id="7"/>
          <p:cNvGrpSpPr/>
          <p:nvPr/>
        </p:nvGrpSpPr>
        <p:grpSpPr>
          <a:xfrm rot="0">
            <a:off x="1028700" y="1936473"/>
            <a:ext cx="943132" cy="94313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1028700" y="3104847"/>
            <a:ext cx="943132" cy="94313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1028700" y="4276578"/>
            <a:ext cx="943132" cy="94313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1028700" y="5448310"/>
            <a:ext cx="943132" cy="94313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1028700" y="6620041"/>
            <a:ext cx="943132" cy="94313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22" id="22"/>
          <p:cNvGrpSpPr/>
          <p:nvPr/>
        </p:nvGrpSpPr>
        <p:grpSpPr>
          <a:xfrm rot="0">
            <a:off x="1028700" y="7791773"/>
            <a:ext cx="943132" cy="94313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25" id="25"/>
          <p:cNvGrpSpPr/>
          <p:nvPr/>
        </p:nvGrpSpPr>
        <p:grpSpPr>
          <a:xfrm rot="0">
            <a:off x="1028700" y="8963504"/>
            <a:ext cx="943132" cy="94313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AFF"/>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1028700" y="380053"/>
            <a:ext cx="7658560" cy="1125845"/>
          </a:xfrm>
          <a:prstGeom prst="rect">
            <a:avLst/>
          </a:prstGeom>
        </p:spPr>
        <p:txBody>
          <a:bodyPr anchor="t" rtlCol="false" tIns="0" lIns="0" bIns="0" rIns="0">
            <a:spAutoFit/>
          </a:bodyPr>
          <a:lstStyle/>
          <a:p>
            <a:pPr algn="l">
              <a:lnSpc>
                <a:spcPts val="8820"/>
              </a:lnSpc>
            </a:pPr>
            <a:r>
              <a:rPr lang="en-US" sz="6300">
                <a:solidFill>
                  <a:srgbClr val="434032"/>
                </a:solidFill>
                <a:latin typeface="Poppins"/>
                <a:ea typeface="Poppins"/>
                <a:cs typeface="Poppins"/>
                <a:sym typeface="Poppins"/>
              </a:rPr>
              <a:t>Modules</a:t>
            </a:r>
          </a:p>
        </p:txBody>
      </p:sp>
      <p:sp>
        <p:nvSpPr>
          <p:cNvPr name="TextBox 29" id="29"/>
          <p:cNvSpPr txBox="true"/>
          <p:nvPr/>
        </p:nvSpPr>
        <p:spPr>
          <a:xfrm rot="0">
            <a:off x="2199888" y="2163564"/>
            <a:ext cx="3189717"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D</a:t>
            </a:r>
            <a:r>
              <a:rPr lang="en-US" sz="2600">
                <a:solidFill>
                  <a:srgbClr val="434032"/>
                </a:solidFill>
                <a:latin typeface="Open Sans"/>
                <a:ea typeface="Open Sans"/>
                <a:cs typeface="Open Sans"/>
                <a:sym typeface="Open Sans"/>
              </a:rPr>
              <a:t>ata Input Module</a:t>
            </a:r>
          </a:p>
        </p:txBody>
      </p:sp>
      <p:sp>
        <p:nvSpPr>
          <p:cNvPr name="TextBox 30" id="30"/>
          <p:cNvSpPr txBox="true"/>
          <p:nvPr/>
        </p:nvSpPr>
        <p:spPr>
          <a:xfrm rot="0">
            <a:off x="2199888" y="3331938"/>
            <a:ext cx="6245936"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D</a:t>
            </a:r>
            <a:r>
              <a:rPr lang="en-US" sz="2600">
                <a:solidFill>
                  <a:srgbClr val="434032"/>
                </a:solidFill>
                <a:latin typeface="Open Sans"/>
                <a:ea typeface="Open Sans"/>
                <a:cs typeface="Open Sans"/>
                <a:sym typeface="Open Sans"/>
              </a:rPr>
              <a:t>ata Processing Module</a:t>
            </a:r>
          </a:p>
        </p:txBody>
      </p:sp>
      <p:sp>
        <p:nvSpPr>
          <p:cNvPr name="TextBox 31" id="31"/>
          <p:cNvSpPr txBox="true"/>
          <p:nvPr/>
        </p:nvSpPr>
        <p:spPr>
          <a:xfrm rot="0">
            <a:off x="2199888" y="5676910"/>
            <a:ext cx="6245936"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Ri</a:t>
            </a:r>
            <a:r>
              <a:rPr lang="en-US" sz="2600">
                <a:solidFill>
                  <a:srgbClr val="434032"/>
                </a:solidFill>
                <a:latin typeface="Open Sans"/>
                <a:ea typeface="Open Sans"/>
                <a:cs typeface="Open Sans"/>
                <a:sym typeface="Open Sans"/>
              </a:rPr>
              <a:t>sk Classification Module</a:t>
            </a:r>
          </a:p>
        </p:txBody>
      </p:sp>
      <p:sp>
        <p:nvSpPr>
          <p:cNvPr name="TextBox 32" id="32"/>
          <p:cNvSpPr txBox="true"/>
          <p:nvPr/>
        </p:nvSpPr>
        <p:spPr>
          <a:xfrm rot="0">
            <a:off x="1122987" y="2163564"/>
            <a:ext cx="754557" cy="43179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01</a:t>
            </a:r>
          </a:p>
        </p:txBody>
      </p:sp>
      <p:sp>
        <p:nvSpPr>
          <p:cNvPr name="TextBox 33" id="33"/>
          <p:cNvSpPr txBox="true"/>
          <p:nvPr/>
        </p:nvSpPr>
        <p:spPr>
          <a:xfrm rot="0">
            <a:off x="1122987" y="3331938"/>
            <a:ext cx="754557" cy="43179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02</a:t>
            </a:r>
          </a:p>
        </p:txBody>
      </p:sp>
      <p:sp>
        <p:nvSpPr>
          <p:cNvPr name="TextBox 34" id="34"/>
          <p:cNvSpPr txBox="true"/>
          <p:nvPr/>
        </p:nvSpPr>
        <p:spPr>
          <a:xfrm rot="0">
            <a:off x="1122987" y="4495653"/>
            <a:ext cx="754557" cy="43179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03</a:t>
            </a:r>
          </a:p>
        </p:txBody>
      </p:sp>
      <p:sp>
        <p:nvSpPr>
          <p:cNvPr name="TextBox 35" id="35"/>
          <p:cNvSpPr txBox="true"/>
          <p:nvPr/>
        </p:nvSpPr>
        <p:spPr>
          <a:xfrm rot="0">
            <a:off x="1122987" y="5676910"/>
            <a:ext cx="754557" cy="43179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04</a:t>
            </a:r>
          </a:p>
        </p:txBody>
      </p:sp>
      <p:sp>
        <p:nvSpPr>
          <p:cNvPr name="TextBox 36" id="36"/>
          <p:cNvSpPr txBox="true"/>
          <p:nvPr/>
        </p:nvSpPr>
        <p:spPr>
          <a:xfrm rot="0">
            <a:off x="1122987" y="6839116"/>
            <a:ext cx="754557" cy="43179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05</a:t>
            </a:r>
          </a:p>
        </p:txBody>
      </p:sp>
      <p:sp>
        <p:nvSpPr>
          <p:cNvPr name="TextBox 37" id="37"/>
          <p:cNvSpPr txBox="true"/>
          <p:nvPr/>
        </p:nvSpPr>
        <p:spPr>
          <a:xfrm rot="0">
            <a:off x="1122987" y="8010848"/>
            <a:ext cx="754557" cy="86994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06</a:t>
            </a:r>
          </a:p>
          <a:p>
            <a:pPr algn="ctr">
              <a:lnSpc>
                <a:spcPts val="3500"/>
              </a:lnSpc>
            </a:pPr>
          </a:p>
        </p:txBody>
      </p:sp>
      <p:sp>
        <p:nvSpPr>
          <p:cNvPr name="TextBox 38" id="38"/>
          <p:cNvSpPr txBox="true"/>
          <p:nvPr/>
        </p:nvSpPr>
        <p:spPr>
          <a:xfrm rot="0">
            <a:off x="1122987" y="9190595"/>
            <a:ext cx="754557" cy="431799"/>
          </a:xfrm>
          <a:prstGeom prst="rect">
            <a:avLst/>
          </a:prstGeom>
        </p:spPr>
        <p:txBody>
          <a:bodyPr anchor="t" rtlCol="false" tIns="0" lIns="0" bIns="0" rIns="0">
            <a:spAutoFit/>
          </a:bodyPr>
          <a:lstStyle/>
          <a:p>
            <a:pPr algn="ctr">
              <a:lnSpc>
                <a:spcPts val="3500"/>
              </a:lnSpc>
            </a:pPr>
            <a:r>
              <a:rPr lang="en-US" sz="2500" b="true">
                <a:solidFill>
                  <a:srgbClr val="FFFFFF"/>
                </a:solidFill>
                <a:latin typeface="Open Sans Bold"/>
                <a:ea typeface="Open Sans Bold"/>
                <a:cs typeface="Open Sans Bold"/>
                <a:sym typeface="Open Sans Bold"/>
              </a:rPr>
              <a:t>07</a:t>
            </a:r>
          </a:p>
        </p:txBody>
      </p:sp>
      <p:sp>
        <p:nvSpPr>
          <p:cNvPr name="TextBox 39" id="39"/>
          <p:cNvSpPr txBox="true"/>
          <p:nvPr/>
        </p:nvSpPr>
        <p:spPr>
          <a:xfrm rot="0">
            <a:off x="2199888" y="4504147"/>
            <a:ext cx="6245936"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M</a:t>
            </a:r>
            <a:r>
              <a:rPr lang="en-US" sz="2600">
                <a:solidFill>
                  <a:srgbClr val="434032"/>
                </a:solidFill>
                <a:latin typeface="Open Sans"/>
                <a:ea typeface="Open Sans"/>
                <a:cs typeface="Open Sans"/>
                <a:sym typeface="Open Sans"/>
              </a:rPr>
              <a:t>achine Learning Prediction Module</a:t>
            </a:r>
          </a:p>
        </p:txBody>
      </p:sp>
      <p:sp>
        <p:nvSpPr>
          <p:cNvPr name="TextBox 40" id="40"/>
          <p:cNvSpPr txBox="true"/>
          <p:nvPr/>
        </p:nvSpPr>
        <p:spPr>
          <a:xfrm rot="0">
            <a:off x="2199888" y="6849119"/>
            <a:ext cx="6245936"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E</a:t>
            </a:r>
            <a:r>
              <a:rPr lang="en-US" sz="2600">
                <a:solidFill>
                  <a:srgbClr val="434032"/>
                </a:solidFill>
                <a:latin typeface="Open Sans"/>
                <a:ea typeface="Open Sans"/>
                <a:cs typeface="Open Sans"/>
                <a:sym typeface="Open Sans"/>
              </a:rPr>
              <a:t>arly Warning Module</a:t>
            </a:r>
          </a:p>
        </p:txBody>
      </p:sp>
      <p:sp>
        <p:nvSpPr>
          <p:cNvPr name="TextBox 41" id="41"/>
          <p:cNvSpPr txBox="true"/>
          <p:nvPr/>
        </p:nvSpPr>
        <p:spPr>
          <a:xfrm rot="0">
            <a:off x="2199888" y="8026088"/>
            <a:ext cx="6245936"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R</a:t>
            </a:r>
            <a:r>
              <a:rPr lang="en-US" sz="2600">
                <a:solidFill>
                  <a:srgbClr val="434032"/>
                </a:solidFill>
                <a:latin typeface="Open Sans"/>
                <a:ea typeface="Open Sans"/>
                <a:cs typeface="Open Sans"/>
                <a:sym typeface="Open Sans"/>
              </a:rPr>
              <a:t>ecommendation Module</a:t>
            </a:r>
          </a:p>
        </p:txBody>
      </p:sp>
      <p:sp>
        <p:nvSpPr>
          <p:cNvPr name="TextBox 42" id="42"/>
          <p:cNvSpPr txBox="true"/>
          <p:nvPr/>
        </p:nvSpPr>
        <p:spPr>
          <a:xfrm rot="0">
            <a:off x="2199888" y="9201150"/>
            <a:ext cx="6245936" cy="448310"/>
          </a:xfrm>
          <a:prstGeom prst="rect">
            <a:avLst/>
          </a:prstGeom>
        </p:spPr>
        <p:txBody>
          <a:bodyPr anchor="t" rtlCol="false" tIns="0" lIns="0" bIns="0" rIns="0">
            <a:spAutoFit/>
          </a:bodyPr>
          <a:lstStyle/>
          <a:p>
            <a:pPr algn="l">
              <a:lnSpc>
                <a:spcPts val="3640"/>
              </a:lnSpc>
            </a:pPr>
            <a:r>
              <a:rPr lang="en-US" sz="2600">
                <a:solidFill>
                  <a:srgbClr val="434032"/>
                </a:solidFill>
                <a:latin typeface="Open Sans"/>
                <a:ea typeface="Open Sans"/>
                <a:cs typeface="Open Sans"/>
                <a:sym typeface="Open Sans"/>
              </a:rPr>
              <a:t>D</a:t>
            </a:r>
            <a:r>
              <a:rPr lang="en-US" sz="2600">
                <a:solidFill>
                  <a:srgbClr val="434032"/>
                </a:solidFill>
                <a:latin typeface="Open Sans"/>
                <a:ea typeface="Open Sans"/>
                <a:cs typeface="Open Sans"/>
                <a:sym typeface="Open Sans"/>
              </a:rPr>
              <a:t>ashboard/Output Module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26769" y="0"/>
            <a:ext cx="3086100" cy="10287000"/>
            <a:chOff x="0" y="0"/>
            <a:chExt cx="812800" cy="2709333"/>
          </a:xfrm>
        </p:grpSpPr>
        <p:sp>
          <p:nvSpPr>
            <p:cNvPr name="Freeform 3" id="3"/>
            <p:cNvSpPr/>
            <p:nvPr/>
          </p:nvSpPr>
          <p:spPr>
            <a:xfrm flipH="false" flipV="false" rot="0">
              <a:off x="0" y="0"/>
              <a:ext cx="812800" cy="2709333"/>
            </a:xfrm>
            <a:custGeom>
              <a:avLst/>
              <a:gdLst/>
              <a:ahLst/>
              <a:cxnLst/>
              <a:rect r="r" b="b" t="t" l="l"/>
              <a:pathLst>
                <a:path h="2709333" w="812800">
                  <a:moveTo>
                    <a:pt x="0" y="0"/>
                  </a:moveTo>
                  <a:lnTo>
                    <a:pt x="812800" y="0"/>
                  </a:lnTo>
                  <a:lnTo>
                    <a:pt x="812800" y="2709333"/>
                  </a:lnTo>
                  <a:lnTo>
                    <a:pt x="0" y="2709333"/>
                  </a:lnTo>
                  <a:close/>
                </a:path>
              </a:pathLst>
            </a:custGeom>
            <a:solidFill>
              <a:srgbClr val="005AFF"/>
            </a:solidFill>
          </p:spPr>
        </p:sp>
        <p:sp>
          <p:nvSpPr>
            <p:cNvPr name="TextBox 4" id="4"/>
            <p:cNvSpPr txBox="true"/>
            <p:nvPr/>
          </p:nvSpPr>
          <p:spPr>
            <a:xfrm>
              <a:off x="0" y="-47625"/>
              <a:ext cx="812800"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0" y="0"/>
            <a:ext cx="7134025" cy="9258300"/>
            <a:chOff x="0" y="0"/>
            <a:chExt cx="1105247" cy="1434353"/>
          </a:xfrm>
        </p:grpSpPr>
        <p:sp>
          <p:nvSpPr>
            <p:cNvPr name="Freeform 6" id="6"/>
            <p:cNvSpPr/>
            <p:nvPr/>
          </p:nvSpPr>
          <p:spPr>
            <a:xfrm flipH="false" flipV="false" rot="0">
              <a:off x="0" y="0"/>
              <a:ext cx="1105247" cy="1434353"/>
            </a:xfrm>
            <a:custGeom>
              <a:avLst/>
              <a:gdLst/>
              <a:ahLst/>
              <a:cxnLst/>
              <a:rect r="r" b="b" t="t" l="l"/>
              <a:pathLst>
                <a:path h="1434353" w="1105247">
                  <a:moveTo>
                    <a:pt x="0" y="0"/>
                  </a:moveTo>
                  <a:lnTo>
                    <a:pt x="1105247" y="0"/>
                  </a:lnTo>
                  <a:lnTo>
                    <a:pt x="1105247" y="1434353"/>
                  </a:lnTo>
                  <a:lnTo>
                    <a:pt x="0" y="1434353"/>
                  </a:lnTo>
                  <a:close/>
                </a:path>
              </a:pathLst>
            </a:custGeom>
            <a:blipFill>
              <a:blip r:embed="rId2"/>
              <a:stretch>
                <a:fillRect l="-14888" t="0" r="-14888" b="0"/>
              </a:stretch>
            </a:blipFill>
          </p:spPr>
        </p:sp>
      </p:grpSp>
      <p:sp>
        <p:nvSpPr>
          <p:cNvPr name="TextBox 7" id="7"/>
          <p:cNvSpPr txBox="true"/>
          <p:nvPr/>
        </p:nvSpPr>
        <p:spPr>
          <a:xfrm rot="0">
            <a:off x="9093952" y="93991"/>
            <a:ext cx="7658560" cy="934709"/>
          </a:xfrm>
          <a:prstGeom prst="rect">
            <a:avLst/>
          </a:prstGeom>
        </p:spPr>
        <p:txBody>
          <a:bodyPr anchor="t" rtlCol="false" tIns="0" lIns="0" bIns="0" rIns="0">
            <a:spAutoFit/>
          </a:bodyPr>
          <a:lstStyle/>
          <a:p>
            <a:pPr algn="l">
              <a:lnSpc>
                <a:spcPts val="7280"/>
              </a:lnSpc>
            </a:pPr>
            <a:r>
              <a:rPr lang="en-US" sz="5200">
                <a:solidFill>
                  <a:srgbClr val="434032"/>
                </a:solidFill>
                <a:latin typeface="Poppins"/>
                <a:ea typeface="Poppins"/>
                <a:cs typeface="Poppins"/>
                <a:sym typeface="Poppins"/>
              </a:rPr>
              <a:t>Data</a:t>
            </a:r>
            <a:r>
              <a:rPr lang="en-US" sz="5200">
                <a:solidFill>
                  <a:srgbClr val="434032"/>
                </a:solidFill>
                <a:latin typeface="Poppins"/>
                <a:ea typeface="Poppins"/>
                <a:cs typeface="Poppins"/>
                <a:sym typeface="Poppins"/>
              </a:rPr>
              <a:t>set Requirements</a:t>
            </a:r>
          </a:p>
        </p:txBody>
      </p:sp>
      <p:sp>
        <p:nvSpPr>
          <p:cNvPr name="TextBox 8" id="8"/>
          <p:cNvSpPr txBox="true"/>
          <p:nvPr/>
        </p:nvSpPr>
        <p:spPr>
          <a:xfrm rot="0">
            <a:off x="9093952" y="1533613"/>
            <a:ext cx="7229189" cy="7520939"/>
          </a:xfrm>
          <a:prstGeom prst="rect">
            <a:avLst/>
          </a:prstGeom>
        </p:spPr>
        <p:txBody>
          <a:bodyPr anchor="t" rtlCol="false" tIns="0" lIns="0" bIns="0" rIns="0">
            <a:spAutoFit/>
          </a:bodyPr>
          <a:lstStyle/>
          <a:p>
            <a:pPr algn="l">
              <a:lnSpc>
                <a:spcPts val="3360"/>
              </a:lnSpc>
            </a:pPr>
            <a:r>
              <a:rPr lang="en-US" sz="2400">
                <a:solidFill>
                  <a:srgbClr val="434032"/>
                </a:solidFill>
                <a:latin typeface="Open Sans"/>
                <a:ea typeface="Open Sans"/>
                <a:cs typeface="Open Sans"/>
                <a:sym typeface="Open Sans"/>
              </a:rPr>
              <a:t>smart_campus_early_warning_dataset.csv</a:t>
            </a:r>
          </a:p>
          <a:p>
            <a:pPr algn="l">
              <a:lnSpc>
                <a:spcPts val="3360"/>
              </a:lnSpc>
            </a:pPr>
          </a:p>
          <a:p>
            <a:pPr algn="l">
              <a:lnSpc>
                <a:spcPts val="3360"/>
              </a:lnSpc>
            </a:pPr>
            <a:r>
              <a:rPr lang="en-US" sz="2400">
                <a:solidFill>
                  <a:srgbClr val="434032"/>
                </a:solidFill>
                <a:latin typeface="Open Sans"/>
                <a:ea typeface="Open Sans"/>
                <a:cs typeface="Open Sans"/>
                <a:sym typeface="Open Sans"/>
              </a:rPr>
              <a:t>It should contain the following columns:</a:t>
            </a:r>
          </a:p>
          <a:p>
            <a:pPr algn="l">
              <a:lnSpc>
                <a:spcPts val="3360"/>
              </a:lnSpc>
            </a:pPr>
            <a:r>
              <a:rPr lang="en-US" sz="2400">
                <a:solidFill>
                  <a:srgbClr val="434032"/>
                </a:solidFill>
                <a:latin typeface="Open Sans"/>
                <a:ea typeface="Open Sans"/>
                <a:cs typeface="Open Sans"/>
                <a:sym typeface="Open Sans"/>
              </a:rPr>
              <a:t>- Temperature</a:t>
            </a:r>
          </a:p>
          <a:p>
            <a:pPr algn="l">
              <a:lnSpc>
                <a:spcPts val="3360"/>
              </a:lnSpc>
            </a:pPr>
            <a:r>
              <a:rPr lang="en-US" sz="2400">
                <a:solidFill>
                  <a:srgbClr val="434032"/>
                </a:solidFill>
                <a:latin typeface="Open Sans"/>
                <a:ea typeface="Open Sans"/>
                <a:cs typeface="Open Sans"/>
                <a:sym typeface="Open Sans"/>
              </a:rPr>
              <a:t>- Humidity</a:t>
            </a:r>
          </a:p>
          <a:p>
            <a:pPr algn="l">
              <a:lnSpc>
                <a:spcPts val="3360"/>
              </a:lnSpc>
            </a:pPr>
            <a:r>
              <a:rPr lang="en-US" sz="2400">
                <a:solidFill>
                  <a:srgbClr val="434032"/>
                </a:solidFill>
                <a:latin typeface="Open Sans"/>
                <a:ea typeface="Open Sans"/>
                <a:cs typeface="Open Sans"/>
                <a:sym typeface="Open Sans"/>
              </a:rPr>
              <a:t>- Rainfall</a:t>
            </a:r>
          </a:p>
          <a:p>
            <a:pPr algn="l">
              <a:lnSpc>
                <a:spcPts val="3360"/>
              </a:lnSpc>
            </a:pPr>
            <a:r>
              <a:rPr lang="en-US" sz="2400">
                <a:solidFill>
                  <a:srgbClr val="434032"/>
                </a:solidFill>
                <a:latin typeface="Open Sans"/>
                <a:ea typeface="Open Sans"/>
                <a:cs typeface="Open Sans"/>
                <a:sym typeface="Open Sans"/>
              </a:rPr>
              <a:t>- Water Level</a:t>
            </a:r>
          </a:p>
          <a:p>
            <a:pPr algn="l">
              <a:lnSpc>
                <a:spcPts val="3360"/>
              </a:lnSpc>
            </a:pPr>
            <a:r>
              <a:rPr lang="en-US" sz="2400">
                <a:solidFill>
                  <a:srgbClr val="434032"/>
                </a:solidFill>
                <a:latin typeface="Open Sans"/>
                <a:ea typeface="Open Sans"/>
                <a:cs typeface="Open Sans"/>
                <a:sym typeface="Open Sans"/>
              </a:rPr>
              <a:t>- Electricity Usage</a:t>
            </a:r>
          </a:p>
          <a:p>
            <a:pPr algn="l">
              <a:lnSpc>
                <a:spcPts val="3360"/>
              </a:lnSpc>
            </a:pPr>
            <a:r>
              <a:rPr lang="en-US" sz="2400">
                <a:solidFill>
                  <a:srgbClr val="434032"/>
                </a:solidFill>
                <a:latin typeface="Open Sans"/>
                <a:ea typeface="Open Sans"/>
                <a:cs typeface="Open Sans"/>
                <a:sym typeface="Open Sans"/>
              </a:rPr>
              <a:t>- Occupancy Rate</a:t>
            </a:r>
          </a:p>
          <a:p>
            <a:pPr algn="l">
              <a:lnSpc>
                <a:spcPts val="3360"/>
              </a:lnSpc>
            </a:pPr>
            <a:r>
              <a:rPr lang="en-US" sz="2400">
                <a:solidFill>
                  <a:srgbClr val="434032"/>
                </a:solidFill>
                <a:latin typeface="Open Sans"/>
                <a:ea typeface="Open Sans"/>
                <a:cs typeface="Open Sans"/>
                <a:sym typeface="Open Sans"/>
              </a:rPr>
              <a:t>- Attendance Rate</a:t>
            </a:r>
          </a:p>
          <a:p>
            <a:pPr algn="l">
              <a:lnSpc>
                <a:spcPts val="3360"/>
              </a:lnSpc>
            </a:pPr>
            <a:r>
              <a:rPr lang="en-US" sz="2400">
                <a:solidFill>
                  <a:srgbClr val="434032"/>
                </a:solidFill>
                <a:latin typeface="Open Sans"/>
                <a:ea typeface="Open Sans"/>
                <a:cs typeface="Open Sans"/>
                <a:sym typeface="Open Sans"/>
              </a:rPr>
              <a:t>- Internet Usage</a:t>
            </a:r>
          </a:p>
          <a:p>
            <a:pPr algn="l">
              <a:lnSpc>
                <a:spcPts val="3360"/>
              </a:lnSpc>
            </a:pPr>
            <a:r>
              <a:rPr lang="en-US" sz="2400">
                <a:solidFill>
                  <a:srgbClr val="434032"/>
                </a:solidFill>
                <a:latin typeface="Open Sans"/>
                <a:ea typeface="Open Sans"/>
                <a:cs typeface="Open Sans"/>
                <a:sym typeface="Open Sans"/>
              </a:rPr>
              <a:t>- Maintenance Complaints</a:t>
            </a:r>
          </a:p>
          <a:p>
            <a:pPr algn="l">
              <a:lnSpc>
                <a:spcPts val="3360"/>
              </a:lnSpc>
            </a:pPr>
            <a:r>
              <a:rPr lang="en-US" sz="2400">
                <a:solidFill>
                  <a:srgbClr val="434032"/>
                </a:solidFill>
                <a:latin typeface="Open Sans"/>
                <a:ea typeface="Open Sans"/>
                <a:cs typeface="Open Sans"/>
                <a:sym typeface="Open Sans"/>
              </a:rPr>
              <a:t>- Previous Incidents</a:t>
            </a:r>
          </a:p>
          <a:p>
            <a:pPr algn="l">
              <a:lnSpc>
                <a:spcPts val="3360"/>
              </a:lnSpc>
            </a:pPr>
            <a:r>
              <a:rPr lang="en-US" sz="2400">
                <a:solidFill>
                  <a:srgbClr val="434032"/>
                </a:solidFill>
                <a:latin typeface="Open Sans"/>
                <a:ea typeface="Open Sans"/>
                <a:cs typeface="Open Sans"/>
                <a:sym typeface="Open Sans"/>
              </a:rPr>
              <a:t>- Air Quality Index</a:t>
            </a:r>
          </a:p>
          <a:p>
            <a:pPr algn="l">
              <a:lnSpc>
                <a:spcPts val="3360"/>
              </a:lnSpc>
            </a:pPr>
            <a:r>
              <a:rPr lang="en-US" sz="2400">
                <a:solidFill>
                  <a:srgbClr val="434032"/>
                </a:solidFill>
                <a:latin typeface="Open Sans"/>
                <a:ea typeface="Open Sans"/>
                <a:cs typeface="Open Sans"/>
                <a:sym typeface="Open Sans"/>
              </a:rPr>
              <a:t>- Risk Level</a:t>
            </a:r>
          </a:p>
          <a:p>
            <a:pPr algn="l">
              <a:lnSpc>
                <a:spcPts val="3360"/>
              </a:lnSpc>
            </a:pPr>
          </a:p>
          <a:p>
            <a:pPr algn="l">
              <a:lnSpc>
                <a:spcPts val="3360"/>
              </a:lnSpc>
            </a:pPr>
            <a:r>
              <a:rPr lang="en-US" sz="2400">
                <a:solidFill>
                  <a:srgbClr val="434032"/>
                </a:solidFill>
                <a:latin typeface="Open Sans"/>
                <a:ea typeface="Open Sans"/>
                <a:cs typeface="Open Sans"/>
                <a:sym typeface="Open Sans"/>
              </a:rPr>
              <a:t>The Risk Level column can be used as the target/output for Machine Learning.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9696" y="0"/>
            <a:ext cx="5258304" cy="10287000"/>
            <a:chOff x="0" y="0"/>
            <a:chExt cx="1384903" cy="2709333"/>
          </a:xfrm>
        </p:grpSpPr>
        <p:sp>
          <p:nvSpPr>
            <p:cNvPr name="Freeform 3" id="3"/>
            <p:cNvSpPr/>
            <p:nvPr/>
          </p:nvSpPr>
          <p:spPr>
            <a:xfrm flipH="false" flipV="false" rot="0">
              <a:off x="0" y="0"/>
              <a:ext cx="1384903" cy="2709333"/>
            </a:xfrm>
            <a:custGeom>
              <a:avLst/>
              <a:gdLst/>
              <a:ahLst/>
              <a:cxnLst/>
              <a:rect r="r" b="b" t="t" l="l"/>
              <a:pathLst>
                <a:path h="2709333" w="1384903">
                  <a:moveTo>
                    <a:pt x="0" y="0"/>
                  </a:moveTo>
                  <a:lnTo>
                    <a:pt x="1384903" y="0"/>
                  </a:lnTo>
                  <a:lnTo>
                    <a:pt x="1384903" y="2709333"/>
                  </a:lnTo>
                  <a:lnTo>
                    <a:pt x="0" y="2709333"/>
                  </a:lnTo>
                  <a:close/>
                </a:path>
              </a:pathLst>
            </a:custGeom>
            <a:solidFill>
              <a:srgbClr val="005AFF"/>
            </a:solidFill>
          </p:spPr>
        </p:sp>
        <p:sp>
          <p:nvSpPr>
            <p:cNvPr name="TextBox 4" id="4"/>
            <p:cNvSpPr txBox="true"/>
            <p:nvPr/>
          </p:nvSpPr>
          <p:spPr>
            <a:xfrm>
              <a:off x="0" y="-47625"/>
              <a:ext cx="1384903"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92398" y="475970"/>
            <a:ext cx="7147017" cy="9238240"/>
            <a:chOff x="0" y="0"/>
            <a:chExt cx="1293825" cy="1672399"/>
          </a:xfrm>
        </p:grpSpPr>
        <p:sp>
          <p:nvSpPr>
            <p:cNvPr name="Freeform 6" id="6"/>
            <p:cNvSpPr/>
            <p:nvPr/>
          </p:nvSpPr>
          <p:spPr>
            <a:xfrm flipH="false" flipV="false" rot="0">
              <a:off x="0" y="0"/>
              <a:ext cx="1293825" cy="1672399"/>
            </a:xfrm>
            <a:custGeom>
              <a:avLst/>
              <a:gdLst/>
              <a:ahLst/>
              <a:cxnLst/>
              <a:rect r="r" b="b" t="t" l="l"/>
              <a:pathLst>
                <a:path h="1672399" w="1293825">
                  <a:moveTo>
                    <a:pt x="0" y="0"/>
                  </a:moveTo>
                  <a:lnTo>
                    <a:pt x="1293825" y="0"/>
                  </a:lnTo>
                  <a:lnTo>
                    <a:pt x="1293825" y="1672399"/>
                  </a:lnTo>
                  <a:lnTo>
                    <a:pt x="0" y="1672399"/>
                  </a:lnTo>
                  <a:close/>
                </a:path>
              </a:pathLst>
            </a:custGeom>
            <a:blipFill>
              <a:blip r:embed="rId2"/>
              <a:stretch>
                <a:fillRect l="0" t="-1978" r="0" b="-1978"/>
              </a:stretch>
            </a:blipFill>
          </p:spPr>
        </p:sp>
      </p:grpSp>
      <p:grpSp>
        <p:nvGrpSpPr>
          <p:cNvPr name="Group 7" id="7"/>
          <p:cNvGrpSpPr/>
          <p:nvPr/>
        </p:nvGrpSpPr>
        <p:grpSpPr>
          <a:xfrm rot="0">
            <a:off x="716026" y="587576"/>
            <a:ext cx="5105057" cy="677364"/>
            <a:chOff x="0" y="0"/>
            <a:chExt cx="1344542" cy="178401"/>
          </a:xfrm>
        </p:grpSpPr>
        <p:sp>
          <p:nvSpPr>
            <p:cNvPr name="Freeform 8" id="8"/>
            <p:cNvSpPr/>
            <p:nvPr/>
          </p:nvSpPr>
          <p:spPr>
            <a:xfrm flipH="false" flipV="false" rot="0">
              <a:off x="0" y="0"/>
              <a:ext cx="1344542" cy="178401"/>
            </a:xfrm>
            <a:custGeom>
              <a:avLst/>
              <a:gdLst/>
              <a:ahLst/>
              <a:cxnLst/>
              <a:rect r="r" b="b" t="t" l="l"/>
              <a:pathLst>
                <a:path h="178401" w="1344542">
                  <a:moveTo>
                    <a:pt x="89200" y="0"/>
                  </a:moveTo>
                  <a:lnTo>
                    <a:pt x="1255341" y="0"/>
                  </a:lnTo>
                  <a:cubicBezTo>
                    <a:pt x="1278999" y="0"/>
                    <a:pt x="1301687" y="9398"/>
                    <a:pt x="1318416" y="26126"/>
                  </a:cubicBezTo>
                  <a:cubicBezTo>
                    <a:pt x="1335144" y="42854"/>
                    <a:pt x="1344542" y="65543"/>
                    <a:pt x="1344542" y="89200"/>
                  </a:cubicBezTo>
                  <a:lnTo>
                    <a:pt x="1344542" y="89200"/>
                  </a:lnTo>
                  <a:cubicBezTo>
                    <a:pt x="1344542" y="112858"/>
                    <a:pt x="1335144" y="135546"/>
                    <a:pt x="1318416" y="152274"/>
                  </a:cubicBezTo>
                  <a:cubicBezTo>
                    <a:pt x="1301687" y="169003"/>
                    <a:pt x="1278999" y="178401"/>
                    <a:pt x="1255341" y="178401"/>
                  </a:cubicBezTo>
                  <a:lnTo>
                    <a:pt x="89200" y="178401"/>
                  </a:lnTo>
                  <a:cubicBezTo>
                    <a:pt x="65543" y="178401"/>
                    <a:pt x="42854" y="169003"/>
                    <a:pt x="26126" y="152274"/>
                  </a:cubicBezTo>
                  <a:cubicBezTo>
                    <a:pt x="9398" y="135546"/>
                    <a:pt x="0" y="112858"/>
                    <a:pt x="0" y="89200"/>
                  </a:cubicBezTo>
                  <a:lnTo>
                    <a:pt x="0" y="89200"/>
                  </a:lnTo>
                  <a:cubicBezTo>
                    <a:pt x="0" y="65543"/>
                    <a:pt x="9398" y="42854"/>
                    <a:pt x="26126" y="26126"/>
                  </a:cubicBezTo>
                  <a:cubicBezTo>
                    <a:pt x="42854" y="9398"/>
                    <a:pt x="65543" y="0"/>
                    <a:pt x="89200" y="0"/>
                  </a:cubicBezTo>
                  <a:close/>
                </a:path>
              </a:pathLst>
            </a:custGeom>
            <a:solidFill>
              <a:srgbClr val="005AFF"/>
            </a:solidFill>
          </p:spPr>
        </p:sp>
        <p:sp>
          <p:nvSpPr>
            <p:cNvPr name="TextBox 9" id="9"/>
            <p:cNvSpPr txBox="true"/>
            <p:nvPr/>
          </p:nvSpPr>
          <p:spPr>
            <a:xfrm>
              <a:off x="0" y="-47625"/>
              <a:ext cx="1344542" cy="226026"/>
            </a:xfrm>
            <a:prstGeom prst="rect">
              <a:avLst/>
            </a:prstGeom>
          </p:spPr>
          <p:txBody>
            <a:bodyPr anchor="ctr" rtlCol="false" tIns="50800" lIns="50800" bIns="50800" rIns="50800"/>
            <a:lstStyle/>
            <a:p>
              <a:pPr algn="ctr">
                <a:lnSpc>
                  <a:spcPts val="2800"/>
                </a:lnSpc>
              </a:pPr>
            </a:p>
          </p:txBody>
        </p:sp>
      </p:grpSp>
      <p:sp>
        <p:nvSpPr>
          <p:cNvPr name="TextBox 10" id="10"/>
          <p:cNvSpPr txBox="true"/>
          <p:nvPr/>
        </p:nvSpPr>
        <p:spPr>
          <a:xfrm rot="0">
            <a:off x="1352317" y="2010618"/>
            <a:ext cx="7791683" cy="7132320"/>
          </a:xfrm>
          <a:prstGeom prst="rect">
            <a:avLst/>
          </a:prstGeom>
        </p:spPr>
        <p:txBody>
          <a:bodyPr anchor="t" rtlCol="false" tIns="0" lIns="0" bIns="0" rIns="0">
            <a:spAutoFit/>
          </a:bodyPr>
          <a:lstStyle/>
          <a:p>
            <a:pPr algn="ctr">
              <a:lnSpc>
                <a:spcPts val="3780"/>
              </a:lnSpc>
            </a:pPr>
            <a:r>
              <a:rPr lang="en-US" sz="2700">
                <a:solidFill>
                  <a:srgbClr val="434032"/>
                </a:solidFill>
                <a:latin typeface="Open Sans"/>
                <a:ea typeface="Open Sans"/>
                <a:cs typeface="Open Sans"/>
                <a:sym typeface="Open Sans"/>
              </a:rPr>
              <a:t>Camp</a:t>
            </a:r>
            <a:r>
              <a:rPr lang="en-US" sz="2700">
                <a:solidFill>
                  <a:srgbClr val="434032"/>
                </a:solidFill>
                <a:latin typeface="Open Sans"/>
                <a:ea typeface="Open Sans"/>
                <a:cs typeface="Open Sans"/>
                <a:sym typeface="Open Sans"/>
              </a:rPr>
              <a:t>us Data Input</a:t>
            </a:r>
          </a:p>
          <a:p>
            <a:pPr algn="ctr">
              <a:lnSpc>
                <a:spcPts val="3780"/>
              </a:lnSpc>
            </a:pPr>
            <a:r>
              <a:rPr lang="en-US" sz="2700">
                <a:solidFill>
                  <a:srgbClr val="434032"/>
                </a:solidFill>
                <a:latin typeface="Open Sans"/>
                <a:ea typeface="Open Sans"/>
                <a:cs typeface="Open Sans"/>
                <a:sym typeface="Open Sans"/>
              </a:rPr>
              <a:t> ⬇</a:t>
            </a:r>
          </a:p>
          <a:p>
            <a:pPr algn="ctr">
              <a:lnSpc>
                <a:spcPts val="3780"/>
              </a:lnSpc>
            </a:pPr>
            <a:r>
              <a:rPr lang="en-US" sz="2700">
                <a:solidFill>
                  <a:srgbClr val="434032"/>
                </a:solidFill>
                <a:latin typeface="Open Sans"/>
                <a:ea typeface="Open Sans"/>
                <a:cs typeface="Open Sans"/>
                <a:sym typeface="Open Sans"/>
              </a:rPr>
              <a:t>Data Preprocessing</a:t>
            </a:r>
          </a:p>
          <a:p>
            <a:pPr algn="ctr">
              <a:lnSpc>
                <a:spcPts val="3780"/>
              </a:lnSpc>
            </a:pPr>
            <a:r>
              <a:rPr lang="en-US" sz="2700">
                <a:solidFill>
                  <a:srgbClr val="434032"/>
                </a:solidFill>
                <a:latin typeface="Open Sans"/>
                <a:ea typeface="Open Sans"/>
                <a:cs typeface="Open Sans"/>
                <a:sym typeface="Open Sans"/>
              </a:rPr>
              <a:t>⬇</a:t>
            </a:r>
          </a:p>
          <a:p>
            <a:pPr algn="ctr">
              <a:lnSpc>
                <a:spcPts val="3780"/>
              </a:lnSpc>
            </a:pPr>
            <a:r>
              <a:rPr lang="en-US" sz="2700">
                <a:solidFill>
                  <a:srgbClr val="434032"/>
                </a:solidFill>
                <a:latin typeface="Open Sans"/>
                <a:ea typeface="Open Sans"/>
                <a:cs typeface="Open Sans"/>
                <a:sym typeface="Open Sans"/>
              </a:rPr>
              <a:t>Machine Learning Model</a:t>
            </a:r>
          </a:p>
          <a:p>
            <a:pPr algn="ctr">
              <a:lnSpc>
                <a:spcPts val="3780"/>
              </a:lnSpc>
            </a:pPr>
            <a:r>
              <a:rPr lang="en-US" sz="2700">
                <a:solidFill>
                  <a:srgbClr val="434032"/>
                </a:solidFill>
                <a:latin typeface="Open Sans"/>
                <a:ea typeface="Open Sans"/>
                <a:cs typeface="Open Sans"/>
                <a:sym typeface="Open Sans"/>
              </a:rPr>
              <a:t> </a:t>
            </a:r>
          </a:p>
          <a:p>
            <a:pPr algn="ctr">
              <a:lnSpc>
                <a:spcPts val="3780"/>
              </a:lnSpc>
            </a:pPr>
            <a:r>
              <a:rPr lang="en-US" sz="2700">
                <a:solidFill>
                  <a:srgbClr val="434032"/>
                </a:solidFill>
                <a:latin typeface="Open Sans"/>
                <a:ea typeface="Open Sans"/>
                <a:cs typeface="Open Sans"/>
                <a:sym typeface="Open Sans"/>
              </a:rPr>
              <a:t> Risk Prediction</a:t>
            </a:r>
          </a:p>
          <a:p>
            <a:pPr algn="ctr">
              <a:lnSpc>
                <a:spcPts val="3780"/>
              </a:lnSpc>
            </a:pPr>
            <a:r>
              <a:rPr lang="en-US" sz="2700">
                <a:solidFill>
                  <a:srgbClr val="434032"/>
                </a:solidFill>
                <a:latin typeface="Open Sans"/>
                <a:ea typeface="Open Sans"/>
                <a:cs typeface="Open Sans"/>
                <a:sym typeface="Open Sans"/>
              </a:rPr>
              <a:t> ⬇</a:t>
            </a:r>
          </a:p>
          <a:p>
            <a:pPr algn="ctr">
              <a:lnSpc>
                <a:spcPts val="3780"/>
              </a:lnSpc>
            </a:pPr>
            <a:r>
              <a:rPr lang="en-US" sz="2700">
                <a:solidFill>
                  <a:srgbClr val="434032"/>
                </a:solidFill>
                <a:latin typeface="Open Sans"/>
                <a:ea typeface="Open Sans"/>
                <a:cs typeface="Open Sans"/>
                <a:sym typeface="Open Sans"/>
              </a:rPr>
              <a:t>Risk Classification</a:t>
            </a:r>
          </a:p>
          <a:p>
            <a:pPr algn="ctr">
              <a:lnSpc>
                <a:spcPts val="3780"/>
              </a:lnSpc>
            </a:pPr>
            <a:r>
              <a:rPr lang="en-US" sz="2700">
                <a:solidFill>
                  <a:srgbClr val="434032"/>
                </a:solidFill>
                <a:latin typeface="Open Sans"/>
                <a:ea typeface="Open Sans"/>
                <a:cs typeface="Open Sans"/>
                <a:sym typeface="Open Sans"/>
              </a:rPr>
              <a:t> ⬇</a:t>
            </a:r>
          </a:p>
          <a:p>
            <a:pPr algn="ctr">
              <a:lnSpc>
                <a:spcPts val="3780"/>
              </a:lnSpc>
            </a:pPr>
            <a:r>
              <a:rPr lang="en-US" sz="2700">
                <a:solidFill>
                  <a:srgbClr val="434032"/>
                </a:solidFill>
                <a:latin typeface="Open Sans"/>
                <a:ea typeface="Open Sans"/>
                <a:cs typeface="Open Sans"/>
                <a:sym typeface="Open Sans"/>
              </a:rPr>
              <a:t>Early Warning Generation</a:t>
            </a:r>
          </a:p>
          <a:p>
            <a:pPr algn="ctr">
              <a:lnSpc>
                <a:spcPts val="3780"/>
              </a:lnSpc>
            </a:pPr>
            <a:r>
              <a:rPr lang="en-US" sz="2700">
                <a:solidFill>
                  <a:srgbClr val="434032"/>
                </a:solidFill>
                <a:latin typeface="Open Sans"/>
                <a:ea typeface="Open Sans"/>
                <a:cs typeface="Open Sans"/>
                <a:sym typeface="Open Sans"/>
              </a:rPr>
              <a:t> ⬇</a:t>
            </a:r>
          </a:p>
          <a:p>
            <a:pPr algn="ctr">
              <a:lnSpc>
                <a:spcPts val="3780"/>
              </a:lnSpc>
            </a:pPr>
            <a:r>
              <a:rPr lang="en-US" sz="2700">
                <a:solidFill>
                  <a:srgbClr val="434032"/>
                </a:solidFill>
                <a:latin typeface="Open Sans"/>
                <a:ea typeface="Open Sans"/>
                <a:cs typeface="Open Sans"/>
                <a:sym typeface="Open Sans"/>
              </a:rPr>
              <a:t>Recommended Action</a:t>
            </a:r>
          </a:p>
          <a:p>
            <a:pPr algn="ctr">
              <a:lnSpc>
                <a:spcPts val="3780"/>
              </a:lnSpc>
            </a:pPr>
            <a:r>
              <a:rPr lang="en-US" sz="2700">
                <a:solidFill>
                  <a:srgbClr val="434032"/>
                </a:solidFill>
                <a:latin typeface="Open Sans"/>
                <a:ea typeface="Open Sans"/>
                <a:cs typeface="Open Sans"/>
                <a:sym typeface="Open Sans"/>
              </a:rPr>
              <a:t> ⬇</a:t>
            </a:r>
          </a:p>
          <a:p>
            <a:pPr algn="ctr">
              <a:lnSpc>
                <a:spcPts val="3780"/>
              </a:lnSpc>
            </a:pPr>
            <a:r>
              <a:rPr lang="en-US" sz="2700">
                <a:solidFill>
                  <a:srgbClr val="434032"/>
                </a:solidFill>
                <a:latin typeface="Open Sans"/>
                <a:ea typeface="Open Sans"/>
                <a:cs typeface="Open Sans"/>
                <a:sym typeface="Open Sans"/>
              </a:rPr>
              <a:t>Dashboard Output</a:t>
            </a:r>
          </a:p>
        </p:txBody>
      </p:sp>
      <p:sp>
        <p:nvSpPr>
          <p:cNvPr name="TextBox 11" id="11"/>
          <p:cNvSpPr txBox="true"/>
          <p:nvPr/>
        </p:nvSpPr>
        <p:spPr>
          <a:xfrm rot="0">
            <a:off x="1250035" y="640508"/>
            <a:ext cx="3998123" cy="514350"/>
          </a:xfrm>
          <a:prstGeom prst="rect">
            <a:avLst/>
          </a:prstGeom>
        </p:spPr>
        <p:txBody>
          <a:bodyPr anchor="t" rtlCol="false" tIns="0" lIns="0" bIns="0" rIns="0">
            <a:spAutoFit/>
          </a:bodyPr>
          <a:lstStyle/>
          <a:p>
            <a:pPr algn="ctr">
              <a:lnSpc>
                <a:spcPts val="4200"/>
              </a:lnSpc>
            </a:pPr>
            <a:r>
              <a:rPr lang="en-US" sz="3000">
                <a:solidFill>
                  <a:srgbClr val="FFFFFF"/>
                </a:solidFill>
                <a:latin typeface="Open Sans"/>
                <a:ea typeface="Open Sans"/>
                <a:cs typeface="Open Sans"/>
                <a:sym typeface="Open Sans"/>
              </a:rPr>
              <a:t>Processing 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4992836" cy="10287000"/>
            <a:chOff x="0" y="0"/>
            <a:chExt cx="1314986" cy="2709333"/>
          </a:xfrm>
        </p:grpSpPr>
        <p:sp>
          <p:nvSpPr>
            <p:cNvPr name="Freeform 3" id="3"/>
            <p:cNvSpPr/>
            <p:nvPr/>
          </p:nvSpPr>
          <p:spPr>
            <a:xfrm flipH="false" flipV="false" rot="0">
              <a:off x="0" y="0"/>
              <a:ext cx="1314986" cy="2709333"/>
            </a:xfrm>
            <a:custGeom>
              <a:avLst/>
              <a:gdLst/>
              <a:ahLst/>
              <a:cxnLst/>
              <a:rect r="r" b="b" t="t" l="l"/>
              <a:pathLst>
                <a:path h="2709333" w="1314986">
                  <a:moveTo>
                    <a:pt x="0" y="0"/>
                  </a:moveTo>
                  <a:lnTo>
                    <a:pt x="1314986" y="0"/>
                  </a:lnTo>
                  <a:lnTo>
                    <a:pt x="1314986" y="2709333"/>
                  </a:lnTo>
                  <a:lnTo>
                    <a:pt x="0" y="2709333"/>
                  </a:lnTo>
                  <a:close/>
                </a:path>
              </a:pathLst>
            </a:custGeom>
            <a:solidFill>
              <a:srgbClr val="005AFF"/>
            </a:solidFill>
          </p:spPr>
        </p:sp>
        <p:sp>
          <p:nvSpPr>
            <p:cNvPr name="TextBox 4" id="4"/>
            <p:cNvSpPr txBox="true"/>
            <p:nvPr/>
          </p:nvSpPr>
          <p:spPr>
            <a:xfrm>
              <a:off x="0" y="-47625"/>
              <a:ext cx="1314986"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8700" y="1028700"/>
            <a:ext cx="6546366" cy="8229600"/>
            <a:chOff x="0" y="0"/>
            <a:chExt cx="1185089" cy="1489805"/>
          </a:xfrm>
        </p:grpSpPr>
        <p:sp>
          <p:nvSpPr>
            <p:cNvPr name="Freeform 6" id="6"/>
            <p:cNvSpPr/>
            <p:nvPr/>
          </p:nvSpPr>
          <p:spPr>
            <a:xfrm flipH="false" flipV="false" rot="0">
              <a:off x="0" y="0"/>
              <a:ext cx="1185089" cy="1489805"/>
            </a:xfrm>
            <a:custGeom>
              <a:avLst/>
              <a:gdLst/>
              <a:ahLst/>
              <a:cxnLst/>
              <a:rect r="r" b="b" t="t" l="l"/>
              <a:pathLst>
                <a:path h="1489805" w="1185089">
                  <a:moveTo>
                    <a:pt x="0" y="0"/>
                  </a:moveTo>
                  <a:lnTo>
                    <a:pt x="1185089" y="0"/>
                  </a:lnTo>
                  <a:lnTo>
                    <a:pt x="1185089" y="1489805"/>
                  </a:lnTo>
                  <a:lnTo>
                    <a:pt x="0" y="1489805"/>
                  </a:lnTo>
                  <a:close/>
                </a:path>
              </a:pathLst>
            </a:custGeom>
            <a:blipFill>
              <a:blip r:embed="rId2"/>
              <a:stretch>
                <a:fillRect l="0" t="-8110" r="0" b="-8110"/>
              </a:stretch>
            </a:blipFill>
          </p:spPr>
        </p:sp>
      </p:grpSp>
      <p:sp>
        <p:nvSpPr>
          <p:cNvPr name="TextBox 7" id="7"/>
          <p:cNvSpPr txBox="true"/>
          <p:nvPr/>
        </p:nvSpPr>
        <p:spPr>
          <a:xfrm rot="0">
            <a:off x="8431818" y="857250"/>
            <a:ext cx="7300296" cy="1125845"/>
          </a:xfrm>
          <a:prstGeom prst="rect">
            <a:avLst/>
          </a:prstGeom>
        </p:spPr>
        <p:txBody>
          <a:bodyPr anchor="t" rtlCol="false" tIns="0" lIns="0" bIns="0" rIns="0">
            <a:spAutoFit/>
          </a:bodyPr>
          <a:lstStyle/>
          <a:p>
            <a:pPr algn="l">
              <a:lnSpc>
                <a:spcPts val="8820"/>
              </a:lnSpc>
            </a:pPr>
            <a:r>
              <a:rPr lang="en-US" sz="6300">
                <a:solidFill>
                  <a:srgbClr val="000000"/>
                </a:solidFill>
                <a:latin typeface="Poppins"/>
                <a:ea typeface="Poppins"/>
                <a:cs typeface="Poppins"/>
                <a:sym typeface="Poppins"/>
              </a:rPr>
              <a:t>💡 Benefits</a:t>
            </a:r>
          </a:p>
        </p:txBody>
      </p:sp>
      <p:sp>
        <p:nvSpPr>
          <p:cNvPr name="TextBox 8" id="8"/>
          <p:cNvSpPr txBox="true"/>
          <p:nvPr/>
        </p:nvSpPr>
        <p:spPr>
          <a:xfrm rot="0">
            <a:off x="8305738" y="2908588"/>
            <a:ext cx="9513963" cy="4865172"/>
          </a:xfrm>
          <a:prstGeom prst="rect">
            <a:avLst/>
          </a:prstGeom>
        </p:spPr>
        <p:txBody>
          <a:bodyPr anchor="t" rtlCol="false" tIns="0" lIns="0" bIns="0" rIns="0">
            <a:spAutoFit/>
          </a:bodyPr>
          <a:lstStyle/>
          <a:p>
            <a:pPr algn="l" marL="665573" indent="-332787" lvl="1">
              <a:lnSpc>
                <a:spcPts val="4315"/>
              </a:lnSpc>
              <a:buFont typeface="Arial"/>
              <a:buChar char="•"/>
            </a:pPr>
            <a:r>
              <a:rPr lang="en-US" sz="3082">
                <a:solidFill>
                  <a:srgbClr val="434032"/>
                </a:solidFill>
                <a:latin typeface="Open Sans"/>
                <a:ea typeface="Open Sans"/>
                <a:cs typeface="Open Sans"/>
                <a:sym typeface="Open Sans"/>
              </a:rPr>
              <a:t>Ea</a:t>
            </a:r>
            <a:r>
              <a:rPr lang="en-US" sz="3082">
                <a:solidFill>
                  <a:srgbClr val="434032"/>
                </a:solidFill>
                <a:latin typeface="Open Sans"/>
                <a:ea typeface="Open Sans"/>
                <a:cs typeface="Open Sans"/>
                <a:sym typeface="Open Sans"/>
              </a:rPr>
              <a:t>rly identification of potential risks.</a:t>
            </a:r>
          </a:p>
          <a:p>
            <a:pPr algn="l" marL="665573" indent="-332787" lvl="1">
              <a:lnSpc>
                <a:spcPts val="4315"/>
              </a:lnSpc>
              <a:buFont typeface="Arial"/>
              <a:buChar char="•"/>
            </a:pPr>
            <a:r>
              <a:rPr lang="en-US" sz="3082">
                <a:solidFill>
                  <a:srgbClr val="434032"/>
                </a:solidFill>
                <a:latin typeface="Open Sans"/>
                <a:ea typeface="Open Sans"/>
                <a:cs typeface="Open Sans"/>
                <a:sym typeface="Open Sans"/>
              </a:rPr>
              <a:t>Data-driven decision-making.</a:t>
            </a:r>
          </a:p>
          <a:p>
            <a:pPr algn="l" marL="665573" indent="-332787" lvl="1">
              <a:lnSpc>
                <a:spcPts val="4315"/>
              </a:lnSpc>
              <a:buFont typeface="Arial"/>
              <a:buChar char="•"/>
            </a:pPr>
            <a:r>
              <a:rPr lang="en-US" sz="3082">
                <a:solidFill>
                  <a:srgbClr val="434032"/>
                </a:solidFill>
                <a:latin typeface="Open Sans"/>
                <a:ea typeface="Open Sans"/>
                <a:cs typeface="Open Sans"/>
                <a:sym typeface="Open Sans"/>
              </a:rPr>
              <a:t>Helps management prioritize interventions.</a:t>
            </a:r>
          </a:p>
          <a:p>
            <a:pPr algn="l" marL="665573" indent="-332787" lvl="1">
              <a:lnSpc>
                <a:spcPts val="4315"/>
              </a:lnSpc>
              <a:buFont typeface="Arial"/>
              <a:buChar char="•"/>
            </a:pPr>
            <a:r>
              <a:rPr lang="en-US" sz="3082">
                <a:solidFill>
                  <a:srgbClr val="434032"/>
                </a:solidFill>
                <a:latin typeface="Open Sans"/>
                <a:ea typeface="Open Sans"/>
                <a:cs typeface="Open Sans"/>
                <a:sym typeface="Open Sans"/>
              </a:rPr>
              <a:t>Combines student, campus, and environmental information.</a:t>
            </a:r>
          </a:p>
          <a:p>
            <a:pPr algn="l" marL="665573" indent="-332787" lvl="1">
              <a:lnSpc>
                <a:spcPts val="4315"/>
              </a:lnSpc>
              <a:buFont typeface="Arial"/>
              <a:buChar char="•"/>
            </a:pPr>
            <a:r>
              <a:rPr lang="en-US" sz="3082">
                <a:solidFill>
                  <a:srgbClr val="434032"/>
                </a:solidFill>
                <a:latin typeface="Open Sans"/>
                <a:ea typeface="Open Sans"/>
                <a:cs typeface="Open Sans"/>
                <a:sym typeface="Open Sans"/>
              </a:rPr>
              <a:t>Provides visual insights through charts.</a:t>
            </a:r>
          </a:p>
          <a:p>
            <a:pPr algn="l" marL="665573" indent="-332787" lvl="1">
              <a:lnSpc>
                <a:spcPts val="4315"/>
              </a:lnSpc>
              <a:buFont typeface="Arial"/>
              <a:buChar char="•"/>
            </a:pPr>
            <a:r>
              <a:rPr lang="en-US" sz="3082">
                <a:solidFill>
                  <a:srgbClr val="434032"/>
                </a:solidFill>
                <a:latin typeface="Open Sans"/>
                <a:ea typeface="Open Sans"/>
                <a:cs typeface="Open Sans"/>
                <a:sym typeface="Open Sans"/>
              </a:rPr>
              <a:t>Can be extended to real-time campus monitoring.</a:t>
            </a:r>
          </a:p>
          <a:p>
            <a:pPr algn="l">
              <a:lnSpc>
                <a:spcPts val="431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730416" y="0"/>
            <a:ext cx="6557584" cy="10287000"/>
            <a:chOff x="0" y="0"/>
            <a:chExt cx="1727100" cy="2709333"/>
          </a:xfrm>
        </p:grpSpPr>
        <p:sp>
          <p:nvSpPr>
            <p:cNvPr name="Freeform 3" id="3"/>
            <p:cNvSpPr/>
            <p:nvPr/>
          </p:nvSpPr>
          <p:spPr>
            <a:xfrm flipH="false" flipV="false" rot="0">
              <a:off x="0" y="0"/>
              <a:ext cx="1727100" cy="2709333"/>
            </a:xfrm>
            <a:custGeom>
              <a:avLst/>
              <a:gdLst/>
              <a:ahLst/>
              <a:cxnLst/>
              <a:rect r="r" b="b" t="t" l="l"/>
              <a:pathLst>
                <a:path h="2709333" w="1727100">
                  <a:moveTo>
                    <a:pt x="0" y="0"/>
                  </a:moveTo>
                  <a:lnTo>
                    <a:pt x="1727100" y="0"/>
                  </a:lnTo>
                  <a:lnTo>
                    <a:pt x="1727100" y="2709333"/>
                  </a:lnTo>
                  <a:lnTo>
                    <a:pt x="0" y="2709333"/>
                  </a:lnTo>
                  <a:close/>
                </a:path>
              </a:pathLst>
            </a:custGeom>
            <a:solidFill>
              <a:srgbClr val="005AFF"/>
            </a:solidFill>
          </p:spPr>
        </p:sp>
        <p:sp>
          <p:nvSpPr>
            <p:cNvPr name="TextBox 4" id="4"/>
            <p:cNvSpPr txBox="true"/>
            <p:nvPr/>
          </p:nvSpPr>
          <p:spPr>
            <a:xfrm>
              <a:off x="0" y="-47625"/>
              <a:ext cx="1727100" cy="2756958"/>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524377" y="1028700"/>
            <a:ext cx="10666988" cy="4114800"/>
            <a:chOff x="0" y="0"/>
            <a:chExt cx="1931045" cy="744902"/>
          </a:xfrm>
        </p:grpSpPr>
        <p:sp>
          <p:nvSpPr>
            <p:cNvPr name="Freeform 6" id="6"/>
            <p:cNvSpPr/>
            <p:nvPr/>
          </p:nvSpPr>
          <p:spPr>
            <a:xfrm flipH="false" flipV="false" rot="0">
              <a:off x="0" y="0"/>
              <a:ext cx="1931045" cy="744902"/>
            </a:xfrm>
            <a:custGeom>
              <a:avLst/>
              <a:gdLst/>
              <a:ahLst/>
              <a:cxnLst/>
              <a:rect r="r" b="b" t="t" l="l"/>
              <a:pathLst>
                <a:path h="744902" w="1931045">
                  <a:moveTo>
                    <a:pt x="0" y="0"/>
                  </a:moveTo>
                  <a:lnTo>
                    <a:pt x="1931045" y="0"/>
                  </a:lnTo>
                  <a:lnTo>
                    <a:pt x="1931045" y="744902"/>
                  </a:lnTo>
                  <a:lnTo>
                    <a:pt x="0" y="744902"/>
                  </a:lnTo>
                  <a:close/>
                </a:path>
              </a:pathLst>
            </a:custGeom>
            <a:blipFill>
              <a:blip r:embed="rId2"/>
              <a:stretch>
                <a:fillRect l="-38523" t="0" r="-38523" b="0"/>
              </a:stretch>
            </a:blipFill>
          </p:spPr>
        </p:sp>
      </p:grpSp>
      <p:sp>
        <p:nvSpPr>
          <p:cNvPr name="TextBox 7" id="7"/>
          <p:cNvSpPr txBox="true"/>
          <p:nvPr/>
        </p:nvSpPr>
        <p:spPr>
          <a:xfrm rot="0">
            <a:off x="11942423" y="3857707"/>
            <a:ext cx="6133570" cy="1648986"/>
          </a:xfrm>
          <a:prstGeom prst="rect">
            <a:avLst/>
          </a:prstGeom>
        </p:spPr>
        <p:txBody>
          <a:bodyPr anchor="t" rtlCol="false" tIns="0" lIns="0" bIns="0" rIns="0">
            <a:spAutoFit/>
          </a:bodyPr>
          <a:lstStyle/>
          <a:p>
            <a:pPr algn="l">
              <a:lnSpc>
                <a:spcPts val="12879"/>
              </a:lnSpc>
            </a:pPr>
            <a:r>
              <a:rPr lang="en-US" sz="9199" b="true">
                <a:solidFill>
                  <a:srgbClr val="FFFFFF"/>
                </a:solidFill>
                <a:latin typeface="Poppins Bold"/>
                <a:ea typeface="Poppins Bold"/>
                <a:cs typeface="Poppins Bold"/>
                <a:sym typeface="Poppins Bold"/>
              </a:rPr>
              <a:t>F</a:t>
            </a:r>
            <a:r>
              <a:rPr lang="en-US" sz="9199" b="true">
                <a:solidFill>
                  <a:srgbClr val="FFFFFF"/>
                </a:solidFill>
                <a:latin typeface="Poppins Bold"/>
                <a:ea typeface="Poppins Bold"/>
                <a:cs typeface="Poppins Bold"/>
                <a:sym typeface="Poppins Bold"/>
              </a:rPr>
              <a:t>inal Goal</a:t>
            </a:r>
          </a:p>
        </p:txBody>
      </p:sp>
      <p:sp>
        <p:nvSpPr>
          <p:cNvPr name="TextBox 8" id="8"/>
          <p:cNvSpPr txBox="true"/>
          <p:nvPr/>
        </p:nvSpPr>
        <p:spPr>
          <a:xfrm rot="0">
            <a:off x="524377" y="6455664"/>
            <a:ext cx="10666988" cy="1934844"/>
          </a:xfrm>
          <a:prstGeom prst="rect">
            <a:avLst/>
          </a:prstGeom>
        </p:spPr>
        <p:txBody>
          <a:bodyPr anchor="t" rtlCol="false" tIns="0" lIns="0" bIns="0" rIns="0">
            <a:spAutoFit/>
          </a:bodyPr>
          <a:lstStyle/>
          <a:p>
            <a:pPr algn="l">
              <a:lnSpc>
                <a:spcPts val="3080"/>
              </a:lnSpc>
            </a:pPr>
            <a:r>
              <a:rPr lang="en-US" sz="2200">
                <a:solidFill>
                  <a:srgbClr val="434032"/>
                </a:solidFill>
                <a:latin typeface="Open Sans"/>
                <a:ea typeface="Open Sans"/>
                <a:cs typeface="Open Sans"/>
                <a:sym typeface="Open Sans"/>
              </a:rPr>
              <a:t>The m</a:t>
            </a:r>
            <a:r>
              <a:rPr lang="en-US" sz="2200">
                <a:solidFill>
                  <a:srgbClr val="434032"/>
                </a:solidFill>
                <a:latin typeface="Open Sans"/>
                <a:ea typeface="Open Sans"/>
                <a:cs typeface="Open Sans"/>
                <a:sym typeface="Open Sans"/>
              </a:rPr>
              <a:t>ain goal of this project is to help campus management identify potential problems before they become serious. Instead of waiting for an incident to occur, the system analyzes campus data, predicts the risk level, generates an early warning, and recommends preventive action.</a:t>
            </a:r>
          </a:p>
          <a:p>
            <a:pPr algn="l">
              <a:lnSpc>
                <a:spcPts val="308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333" r="0" b="-2333"/>
            </a:stretch>
          </a:blipFill>
        </p:spPr>
      </p:sp>
      <p:sp>
        <p:nvSpPr>
          <p:cNvPr name="TextBox 3" id="3"/>
          <p:cNvSpPr txBox="true"/>
          <p:nvPr/>
        </p:nvSpPr>
        <p:spPr>
          <a:xfrm rot="0">
            <a:off x="2037834" y="3073386"/>
            <a:ext cx="14212331" cy="2070114"/>
          </a:xfrm>
          <a:prstGeom prst="rect">
            <a:avLst/>
          </a:prstGeom>
        </p:spPr>
        <p:txBody>
          <a:bodyPr anchor="t" rtlCol="false" tIns="0" lIns="0" bIns="0" rIns="0">
            <a:spAutoFit/>
          </a:bodyPr>
          <a:lstStyle/>
          <a:p>
            <a:pPr algn="ctr">
              <a:lnSpc>
                <a:spcPts val="16099"/>
              </a:lnSpc>
            </a:pPr>
            <a:r>
              <a:rPr lang="en-US" sz="11499" b="true">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DAHTS3mnH2Q</dc:identifier>
  <dcterms:modified xsi:type="dcterms:W3CDTF">2011-08-01T06:04:30Z</dcterms:modified>
  <cp:revision>1</cp:revision>
  <dc:title>Smart Campus Early-Warning &amp; Decision Support System</dc:title>
</cp:coreProperties>
</file>